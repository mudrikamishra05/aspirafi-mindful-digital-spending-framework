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19"/>
  </p:notesMasterIdLst>
  <p:sldIdLst>
    <p:sldId id="256" r:id="rId2"/>
    <p:sldId id="257" r:id="rId3"/>
    <p:sldId id="258" r:id="rId4"/>
    <p:sldId id="259" r:id="rId5"/>
    <p:sldId id="260" r:id="rId6"/>
    <p:sldId id="261" r:id="rId7"/>
    <p:sldId id="262" r:id="rId8"/>
    <p:sldId id="272" r:id="rId9"/>
    <p:sldId id="263" r:id="rId10"/>
    <p:sldId id="264"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F365C5-73F4-4780-983D-5E51A3EB44AF}" v="3" dt="2026-07-17T13:53:46.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atagya Mishra" userId="81827b8e69644508" providerId="LiveId" clId="{A0684AB9-F867-410A-8CDA-F019454DDFA3}"/>
    <pc:docChg chg="custSel addSld delSld modSld">
      <pc:chgData name="kratagya Mishra" userId="81827b8e69644508" providerId="LiveId" clId="{A0684AB9-F867-410A-8CDA-F019454DDFA3}" dt="2026-06-09T13:47:18.239" v="7237"/>
      <pc:docMkLst>
        <pc:docMk/>
      </pc:docMkLst>
      <pc:sldChg chg="addSp modSp mod modNotesTx">
        <pc:chgData name="kratagya Mishra" userId="81827b8e69644508" providerId="LiveId" clId="{A0684AB9-F867-410A-8CDA-F019454DDFA3}" dt="2026-05-26T14:10:57.214" v="7225" actId="20577"/>
        <pc:sldMkLst>
          <pc:docMk/>
          <pc:sldMk cId="3228473281" sldId="256"/>
        </pc:sldMkLst>
        <pc:spChg chg="mod">
          <ac:chgData name="kratagya Mishra" userId="81827b8e69644508" providerId="LiveId" clId="{A0684AB9-F867-410A-8CDA-F019454DDFA3}" dt="2026-05-23T06:14:32.386" v="7057" actId="27636"/>
          <ac:spMkLst>
            <pc:docMk/>
            <pc:sldMk cId="3228473281" sldId="256"/>
            <ac:spMk id="2" creationId="{4D140631-0A63-F001-9321-8867DD578098}"/>
          </ac:spMkLst>
        </pc:spChg>
        <pc:spChg chg="mod">
          <ac:chgData name="kratagya Mishra" userId="81827b8e69644508" providerId="LiveId" clId="{A0684AB9-F867-410A-8CDA-F019454DDFA3}" dt="2026-05-23T06:22:55.722" v="7113" actId="20577"/>
          <ac:spMkLst>
            <pc:docMk/>
            <pc:sldMk cId="3228473281" sldId="256"/>
            <ac:spMk id="3" creationId="{EC347814-9C13-FE10-41BC-CE1EFF1C39FF}"/>
          </ac:spMkLst>
        </pc:spChg>
        <pc:picChg chg="add mod">
          <ac:chgData name="kratagya Mishra" userId="81827b8e69644508" providerId="LiveId" clId="{A0684AB9-F867-410A-8CDA-F019454DDFA3}" dt="2026-05-23T05:54:37.142" v="6930" actId="1076"/>
          <ac:picMkLst>
            <pc:docMk/>
            <pc:sldMk cId="3228473281" sldId="256"/>
            <ac:picMk id="5" creationId="{61296A41-484E-5A85-9523-B25C12C0FEB7}"/>
          </ac:picMkLst>
        </pc:picChg>
        <pc:picChg chg="add mod">
          <ac:chgData name="kratagya Mishra" userId="81827b8e69644508" providerId="LiveId" clId="{A0684AB9-F867-410A-8CDA-F019454DDFA3}" dt="2026-05-23T06:14:20.487" v="7055" actId="14100"/>
          <ac:picMkLst>
            <pc:docMk/>
            <pc:sldMk cId="3228473281" sldId="256"/>
            <ac:picMk id="7" creationId="{D86A3893-066F-786B-6E4B-5CCBB3945AC4}"/>
          </ac:picMkLst>
        </pc:picChg>
      </pc:sldChg>
      <pc:sldChg chg="addSp delSp modSp mod modNotesTx">
        <pc:chgData name="kratagya Mishra" userId="81827b8e69644508" providerId="LiveId" clId="{A0684AB9-F867-410A-8CDA-F019454DDFA3}" dt="2026-05-26T14:11:47.529" v="7226"/>
        <pc:sldMkLst>
          <pc:docMk/>
          <pc:sldMk cId="2460933991" sldId="257"/>
        </pc:sldMkLst>
        <pc:spChg chg="mod">
          <ac:chgData name="kratagya Mishra" userId="81827b8e69644508" providerId="LiveId" clId="{A0684AB9-F867-410A-8CDA-F019454DDFA3}" dt="2026-05-23T06:14:57.505" v="7091"/>
          <ac:spMkLst>
            <pc:docMk/>
            <pc:sldMk cId="2460933991" sldId="257"/>
            <ac:spMk id="2" creationId="{22BBC6A9-43BE-0942-686B-D6E1B212E0BA}"/>
          </ac:spMkLst>
        </pc:spChg>
        <pc:spChg chg="mod">
          <ac:chgData name="kratagya Mishra" userId="81827b8e69644508" providerId="LiveId" clId="{A0684AB9-F867-410A-8CDA-F019454DDFA3}" dt="2026-05-23T06:23:43.900" v="7128" actId="20577"/>
          <ac:spMkLst>
            <pc:docMk/>
            <pc:sldMk cId="2460933991" sldId="257"/>
            <ac:spMk id="3" creationId="{1091FD91-F1BC-3E56-EDB8-B22C422C683B}"/>
          </ac:spMkLst>
        </pc:spChg>
        <pc:picChg chg="add del mod">
          <ac:chgData name="kratagya Mishra" userId="81827b8e69644508" providerId="LiveId" clId="{A0684AB9-F867-410A-8CDA-F019454DDFA3}" dt="2026-05-23T06:06:02.026" v="6981" actId="21"/>
          <ac:picMkLst>
            <pc:docMk/>
            <pc:sldMk cId="2460933991" sldId="257"/>
            <ac:picMk id="5" creationId="{A484EC18-975F-C60B-2BDB-8B40EB7C2556}"/>
          </ac:picMkLst>
        </pc:picChg>
        <pc:picChg chg="add mod">
          <ac:chgData name="kratagya Mishra" userId="81827b8e69644508" providerId="LiveId" clId="{A0684AB9-F867-410A-8CDA-F019454DDFA3}" dt="2026-05-23T06:08:00.571" v="6994" actId="14100"/>
          <ac:picMkLst>
            <pc:docMk/>
            <pc:sldMk cId="2460933991" sldId="257"/>
            <ac:picMk id="7" creationId="{77A17327-1448-3294-BDEF-213BC1D0993D}"/>
          </ac:picMkLst>
        </pc:picChg>
      </pc:sldChg>
      <pc:sldChg chg="addSp modSp mod modNotesTx">
        <pc:chgData name="kratagya Mishra" userId="81827b8e69644508" providerId="LiveId" clId="{A0684AB9-F867-410A-8CDA-F019454DDFA3}" dt="2026-05-26T14:12:46.858" v="7227"/>
        <pc:sldMkLst>
          <pc:docMk/>
          <pc:sldMk cId="1383251879" sldId="258"/>
        </pc:sldMkLst>
        <pc:spChg chg="mod">
          <ac:chgData name="kratagya Mishra" userId="81827b8e69644508" providerId="LiveId" clId="{A0684AB9-F867-410A-8CDA-F019454DDFA3}" dt="2026-05-23T06:14:57.505" v="7091"/>
          <ac:spMkLst>
            <pc:docMk/>
            <pc:sldMk cId="1383251879" sldId="258"/>
            <ac:spMk id="2" creationId="{B2301C4B-9639-82C3-D1C5-98EB0B8020C3}"/>
          </ac:spMkLst>
        </pc:spChg>
        <pc:spChg chg="mod">
          <ac:chgData name="kratagya Mishra" userId="81827b8e69644508" providerId="LiveId" clId="{A0684AB9-F867-410A-8CDA-F019454DDFA3}" dt="2026-05-23T06:14:57.780" v="7094" actId="27636"/>
          <ac:spMkLst>
            <pc:docMk/>
            <pc:sldMk cId="1383251879" sldId="258"/>
            <ac:spMk id="3" creationId="{FAE68EC6-0E8B-6CD5-3197-A2B7A4ECE9C1}"/>
          </ac:spMkLst>
        </pc:spChg>
        <pc:picChg chg="add mod">
          <ac:chgData name="kratagya Mishra" userId="81827b8e69644508" providerId="LiveId" clId="{A0684AB9-F867-410A-8CDA-F019454DDFA3}" dt="2026-05-23T06:06:10.667" v="6984" actId="14100"/>
          <ac:picMkLst>
            <pc:docMk/>
            <pc:sldMk cId="1383251879" sldId="258"/>
            <ac:picMk id="4" creationId="{ADB0FC2A-7F83-A94E-0FD3-33274D72ABD0}"/>
          </ac:picMkLst>
        </pc:picChg>
      </pc:sldChg>
      <pc:sldChg chg="addSp modSp mod modNotesTx">
        <pc:chgData name="kratagya Mishra" userId="81827b8e69644508" providerId="LiveId" clId="{A0684AB9-F867-410A-8CDA-F019454DDFA3}" dt="2026-05-26T14:15:24.014" v="7229"/>
        <pc:sldMkLst>
          <pc:docMk/>
          <pc:sldMk cId="462065034" sldId="259"/>
        </pc:sldMkLst>
        <pc:spChg chg="mod">
          <ac:chgData name="kratagya Mishra" userId="81827b8e69644508" providerId="LiveId" clId="{A0684AB9-F867-410A-8CDA-F019454DDFA3}" dt="2026-05-23T06:14:57.835" v="7095" actId="27636"/>
          <ac:spMkLst>
            <pc:docMk/>
            <pc:sldMk cId="462065034" sldId="259"/>
            <ac:spMk id="2" creationId="{170AAE17-5713-F1D1-128C-4C0CEA45B710}"/>
          </ac:spMkLst>
        </pc:spChg>
        <pc:spChg chg="mod">
          <ac:chgData name="kratagya Mishra" userId="81827b8e69644508" providerId="LiveId" clId="{A0684AB9-F867-410A-8CDA-F019454DDFA3}" dt="2026-05-23T06:14:38.502" v="7080" actId="27636"/>
          <ac:spMkLst>
            <pc:docMk/>
            <pc:sldMk cId="462065034" sldId="259"/>
            <ac:spMk id="3" creationId="{B576C8FB-1EE3-4E67-AA4A-6B1ABA120074}"/>
          </ac:spMkLst>
        </pc:spChg>
        <pc:spChg chg="mod">
          <ac:chgData name="kratagya Mishra" userId="81827b8e69644508" providerId="LiveId" clId="{A0684AB9-F867-410A-8CDA-F019454DDFA3}" dt="2026-05-23T05:39:32.106" v="6391" actId="1076"/>
          <ac:spMkLst>
            <pc:docMk/>
            <pc:sldMk cId="462065034" sldId="259"/>
            <ac:spMk id="4" creationId="{3276EA96-514C-6965-7560-E75D4CE7BF1A}"/>
          </ac:spMkLst>
        </pc:spChg>
        <pc:spChg chg="mod">
          <ac:chgData name="kratagya Mishra" userId="81827b8e69644508" providerId="LiveId" clId="{A0684AB9-F867-410A-8CDA-F019454DDFA3}" dt="2026-05-23T05:39:29.177" v="6390" actId="1076"/>
          <ac:spMkLst>
            <pc:docMk/>
            <pc:sldMk cId="462065034" sldId="259"/>
            <ac:spMk id="5" creationId="{2FCB8383-A594-A6D8-70EF-A4387D78BC19}"/>
          </ac:spMkLst>
        </pc:spChg>
        <pc:spChg chg="mod">
          <ac:chgData name="kratagya Mishra" userId="81827b8e69644508" providerId="LiveId" clId="{A0684AB9-F867-410A-8CDA-F019454DDFA3}" dt="2026-05-23T05:39:25.540" v="6389" actId="1076"/>
          <ac:spMkLst>
            <pc:docMk/>
            <pc:sldMk cId="462065034" sldId="259"/>
            <ac:spMk id="6" creationId="{6ADAC016-FE79-9BC7-EE68-5BC33EC58CC8}"/>
          </ac:spMkLst>
        </pc:spChg>
        <pc:spChg chg="mod">
          <ac:chgData name="kratagya Mishra" userId="81827b8e69644508" providerId="LiveId" clId="{A0684AB9-F867-410A-8CDA-F019454DDFA3}" dt="2026-05-23T05:39:21.258" v="6388" actId="1076"/>
          <ac:spMkLst>
            <pc:docMk/>
            <pc:sldMk cId="462065034" sldId="259"/>
            <ac:spMk id="7" creationId="{4DE12D17-AAB6-ED05-F8EF-D8A9F7B089B3}"/>
          </ac:spMkLst>
        </pc:spChg>
        <pc:picChg chg="add mod">
          <ac:chgData name="kratagya Mishra" userId="81827b8e69644508" providerId="LiveId" clId="{A0684AB9-F867-410A-8CDA-F019454DDFA3}" dt="2026-05-23T05:53:43.026" v="6920" actId="14100"/>
          <ac:picMkLst>
            <pc:docMk/>
            <pc:sldMk cId="462065034" sldId="259"/>
            <ac:picMk id="9" creationId="{CF85EBBB-4F7A-3827-86D2-E073C4265312}"/>
          </ac:picMkLst>
        </pc:picChg>
      </pc:sldChg>
      <pc:sldChg chg="addSp modSp mod modNotesTx">
        <pc:chgData name="kratagya Mishra" userId="81827b8e69644508" providerId="LiveId" clId="{A0684AB9-F867-410A-8CDA-F019454DDFA3}" dt="2026-05-26T14:14:50.587" v="7228"/>
        <pc:sldMkLst>
          <pc:docMk/>
          <pc:sldMk cId="204143735" sldId="260"/>
        </pc:sldMkLst>
        <pc:spChg chg="mod">
          <ac:chgData name="kratagya Mishra" userId="81827b8e69644508" providerId="LiveId" clId="{A0684AB9-F867-410A-8CDA-F019454DDFA3}" dt="2026-05-23T06:14:57.505" v="7091"/>
          <ac:spMkLst>
            <pc:docMk/>
            <pc:sldMk cId="204143735" sldId="260"/>
            <ac:spMk id="2" creationId="{DFB4358E-01C4-099B-E5CB-874F5D1ABB6D}"/>
          </ac:spMkLst>
        </pc:spChg>
        <pc:spChg chg="mod">
          <ac:chgData name="kratagya Mishra" userId="81827b8e69644508" providerId="LiveId" clId="{A0684AB9-F867-410A-8CDA-F019454DDFA3}" dt="2026-05-23T06:24:41.075" v="7144" actId="20577"/>
          <ac:spMkLst>
            <pc:docMk/>
            <pc:sldMk cId="204143735" sldId="260"/>
            <ac:spMk id="3" creationId="{011EC82D-DB1E-AFD8-2ADB-6AD0AAA8370D}"/>
          </ac:spMkLst>
        </pc:spChg>
        <pc:picChg chg="add mod">
          <ac:chgData name="kratagya Mishra" userId="81827b8e69644508" providerId="LiveId" clId="{A0684AB9-F867-410A-8CDA-F019454DDFA3}" dt="2026-05-23T06:08:38.247" v="6999" actId="14100"/>
          <ac:picMkLst>
            <pc:docMk/>
            <pc:sldMk cId="204143735" sldId="260"/>
            <ac:picMk id="5" creationId="{74D67F2B-22FB-8538-2A28-8D43E12CD832}"/>
          </ac:picMkLst>
        </pc:picChg>
      </pc:sldChg>
      <pc:sldChg chg="addSp modSp new mod modNotesTx">
        <pc:chgData name="kratagya Mishra" userId="81827b8e69644508" providerId="LiveId" clId="{A0684AB9-F867-410A-8CDA-F019454DDFA3}" dt="2026-05-26T14:16:05.299" v="7230"/>
        <pc:sldMkLst>
          <pc:docMk/>
          <pc:sldMk cId="3510327907" sldId="261"/>
        </pc:sldMkLst>
        <pc:spChg chg="mod">
          <ac:chgData name="kratagya Mishra" userId="81827b8e69644508" providerId="LiveId" clId="{A0684AB9-F867-410A-8CDA-F019454DDFA3}" dt="2026-05-23T06:14:57.505" v="7091"/>
          <ac:spMkLst>
            <pc:docMk/>
            <pc:sldMk cId="3510327907" sldId="261"/>
            <ac:spMk id="2" creationId="{036E725E-5A14-37C1-6599-3EC51E3C0A9D}"/>
          </ac:spMkLst>
        </pc:spChg>
        <pc:spChg chg="mod">
          <ac:chgData name="kratagya Mishra" userId="81827b8e69644508" providerId="LiveId" clId="{A0684AB9-F867-410A-8CDA-F019454DDFA3}" dt="2026-05-23T06:25:29.101" v="7162" actId="20577"/>
          <ac:spMkLst>
            <pc:docMk/>
            <pc:sldMk cId="3510327907" sldId="261"/>
            <ac:spMk id="3" creationId="{A876A87E-00F1-9A49-C578-30DF00603393}"/>
          </ac:spMkLst>
        </pc:spChg>
        <pc:picChg chg="add mod">
          <ac:chgData name="kratagya Mishra" userId="81827b8e69644508" providerId="LiveId" clId="{A0684AB9-F867-410A-8CDA-F019454DDFA3}" dt="2026-05-23T06:04:18.609" v="6969"/>
          <ac:picMkLst>
            <pc:docMk/>
            <pc:sldMk cId="3510327907" sldId="261"/>
            <ac:picMk id="4" creationId="{E9BF61ED-2D90-5029-98BB-07F34BAEBDF9}"/>
          </ac:picMkLst>
        </pc:picChg>
      </pc:sldChg>
      <pc:sldChg chg="addSp modSp new mod modNotesTx">
        <pc:chgData name="kratagya Mishra" userId="81827b8e69644508" providerId="LiveId" clId="{A0684AB9-F867-410A-8CDA-F019454DDFA3}" dt="2026-05-26T14:16:45.326" v="7231"/>
        <pc:sldMkLst>
          <pc:docMk/>
          <pc:sldMk cId="2790697310" sldId="262"/>
        </pc:sldMkLst>
        <pc:spChg chg="mod">
          <ac:chgData name="kratagya Mishra" userId="81827b8e69644508" providerId="LiveId" clId="{A0684AB9-F867-410A-8CDA-F019454DDFA3}" dt="2026-05-23T06:14:57.505" v="7091"/>
          <ac:spMkLst>
            <pc:docMk/>
            <pc:sldMk cId="2790697310" sldId="262"/>
            <ac:spMk id="2" creationId="{C19A1172-77D2-E8B5-4476-E26C975266FC}"/>
          </ac:spMkLst>
        </pc:spChg>
        <pc:spChg chg="mod">
          <ac:chgData name="kratagya Mishra" userId="81827b8e69644508" providerId="LiveId" clId="{A0684AB9-F867-410A-8CDA-F019454DDFA3}" dt="2026-05-23T06:26:01.399" v="7206" actId="20577"/>
          <ac:spMkLst>
            <pc:docMk/>
            <pc:sldMk cId="2790697310" sldId="262"/>
            <ac:spMk id="3" creationId="{89D24664-E1D9-E033-7DCA-44CD4A95E7A9}"/>
          </ac:spMkLst>
        </pc:spChg>
        <pc:picChg chg="add mod">
          <ac:chgData name="kratagya Mishra" userId="81827b8e69644508" providerId="LiveId" clId="{A0684AB9-F867-410A-8CDA-F019454DDFA3}" dt="2026-05-23T05:55:42.798" v="6937" actId="14100"/>
          <ac:picMkLst>
            <pc:docMk/>
            <pc:sldMk cId="2790697310" sldId="262"/>
            <ac:picMk id="5" creationId="{9034AC83-4201-4F73-4075-4978BF9A98DA}"/>
          </ac:picMkLst>
        </pc:picChg>
        <pc:picChg chg="add mod">
          <ac:chgData name="kratagya Mishra" userId="81827b8e69644508" providerId="LiveId" clId="{A0684AB9-F867-410A-8CDA-F019454DDFA3}" dt="2026-05-23T06:07:11.804" v="6990" actId="14100"/>
          <ac:picMkLst>
            <pc:docMk/>
            <pc:sldMk cId="2790697310" sldId="262"/>
            <ac:picMk id="7" creationId="{582721C2-6B31-24D1-638B-37C598E072FB}"/>
          </ac:picMkLst>
        </pc:picChg>
      </pc:sldChg>
      <pc:sldChg chg="addSp modSp new mod">
        <pc:chgData name="kratagya Mishra" userId="81827b8e69644508" providerId="LiveId" clId="{A0684AB9-F867-410A-8CDA-F019454DDFA3}" dt="2026-05-23T06:14:57.927" v="7100" actId="27636"/>
        <pc:sldMkLst>
          <pc:docMk/>
          <pc:sldMk cId="3040472510" sldId="263"/>
        </pc:sldMkLst>
        <pc:spChg chg="mod">
          <ac:chgData name="kratagya Mishra" userId="81827b8e69644508" providerId="LiveId" clId="{A0684AB9-F867-410A-8CDA-F019454DDFA3}" dt="2026-05-23T06:14:57.927" v="7100" actId="27636"/>
          <ac:spMkLst>
            <pc:docMk/>
            <pc:sldMk cId="3040472510" sldId="263"/>
            <ac:spMk id="2" creationId="{12D5C2C4-98BD-9183-E669-C4CA96A4DE5E}"/>
          </ac:spMkLst>
        </pc:spChg>
        <pc:spChg chg="mod">
          <ac:chgData name="kratagya Mishra" userId="81827b8e69644508" providerId="LiveId" clId="{A0684AB9-F867-410A-8CDA-F019454DDFA3}" dt="2026-05-23T06:14:57.923" v="7099" actId="27636"/>
          <ac:spMkLst>
            <pc:docMk/>
            <pc:sldMk cId="3040472510" sldId="263"/>
            <ac:spMk id="3" creationId="{E706BA6E-F040-93B8-0B44-593D8FED3652}"/>
          </ac:spMkLst>
        </pc:spChg>
        <pc:picChg chg="add mod">
          <ac:chgData name="kratagya Mishra" userId="81827b8e69644508" providerId="LiveId" clId="{A0684AB9-F867-410A-8CDA-F019454DDFA3}" dt="2026-05-23T06:00:20.365" v="6966" actId="14100"/>
          <ac:picMkLst>
            <pc:docMk/>
            <pc:sldMk cId="3040472510" sldId="263"/>
            <ac:picMk id="5" creationId="{63F5AF0A-3161-F2F2-7F79-B686A118C131}"/>
          </ac:picMkLst>
        </pc:picChg>
      </pc:sldChg>
      <pc:sldChg chg="addSp delSp modSp new mod">
        <pc:chgData name="kratagya Mishra" userId="81827b8e69644508" providerId="LiveId" clId="{A0684AB9-F867-410A-8CDA-F019454DDFA3}" dt="2026-05-23T06:26:42.516" v="7209" actId="20577"/>
        <pc:sldMkLst>
          <pc:docMk/>
          <pc:sldMk cId="114486964" sldId="264"/>
        </pc:sldMkLst>
        <pc:spChg chg="mod">
          <ac:chgData name="kratagya Mishra" userId="81827b8e69644508" providerId="LiveId" clId="{A0684AB9-F867-410A-8CDA-F019454DDFA3}" dt="2026-05-23T06:14:57.932" v="7101" actId="27636"/>
          <ac:spMkLst>
            <pc:docMk/>
            <pc:sldMk cId="114486964" sldId="264"/>
            <ac:spMk id="2" creationId="{36B72CEC-BD73-49FC-EDAD-82B6FD4EB36C}"/>
          </ac:spMkLst>
        </pc:spChg>
        <pc:spChg chg="mod">
          <ac:chgData name="kratagya Mishra" userId="81827b8e69644508" providerId="LiveId" clId="{A0684AB9-F867-410A-8CDA-F019454DDFA3}" dt="2026-05-23T06:26:42.516" v="7209" actId="20577"/>
          <ac:spMkLst>
            <pc:docMk/>
            <pc:sldMk cId="114486964" sldId="264"/>
            <ac:spMk id="3" creationId="{CC6071BD-C44C-E81E-E556-BF2A3DE87647}"/>
          </ac:spMkLst>
        </pc:spChg>
        <pc:picChg chg="add mod">
          <ac:chgData name="kratagya Mishra" userId="81827b8e69644508" providerId="LiveId" clId="{A0684AB9-F867-410A-8CDA-F019454DDFA3}" dt="2026-05-23T05:56:21.352" v="6940" actId="14100"/>
          <ac:picMkLst>
            <pc:docMk/>
            <pc:sldMk cId="114486964" sldId="264"/>
            <ac:picMk id="5" creationId="{93AC8449-2D86-A1F6-FB2A-1904102F6B8A}"/>
          </ac:picMkLst>
        </pc:picChg>
        <pc:picChg chg="add del mod">
          <ac:chgData name="kratagya Mishra" userId="81827b8e69644508" providerId="LiveId" clId="{A0684AB9-F867-410A-8CDA-F019454DDFA3}" dt="2026-05-23T06:04:10.027" v="6968" actId="21"/>
          <ac:picMkLst>
            <pc:docMk/>
            <pc:sldMk cId="114486964" sldId="264"/>
            <ac:picMk id="7" creationId="{2B9E7839-F7CD-99E0-2940-F1C17EA0AC7C}"/>
          </ac:picMkLst>
        </pc:picChg>
        <pc:picChg chg="add mod">
          <ac:chgData name="kratagya Mishra" userId="81827b8e69644508" providerId="LiveId" clId="{A0684AB9-F867-410A-8CDA-F019454DDFA3}" dt="2026-05-23T06:04:38.793" v="6975" actId="14100"/>
          <ac:picMkLst>
            <pc:docMk/>
            <pc:sldMk cId="114486964" sldId="264"/>
            <ac:picMk id="9" creationId="{01948A76-3D46-96BD-B72C-FA2589413D46}"/>
          </ac:picMkLst>
        </pc:picChg>
      </pc:sldChg>
      <pc:sldChg chg="addSp modSp new mod">
        <pc:chgData name="kratagya Mishra" userId="81827b8e69644508" providerId="LiveId" clId="{A0684AB9-F867-410A-8CDA-F019454DDFA3}" dt="2026-05-23T06:14:57.505" v="7091"/>
        <pc:sldMkLst>
          <pc:docMk/>
          <pc:sldMk cId="2408961926" sldId="265"/>
        </pc:sldMkLst>
        <pc:spChg chg="mod">
          <ac:chgData name="kratagya Mishra" userId="81827b8e69644508" providerId="LiveId" clId="{A0684AB9-F867-410A-8CDA-F019454DDFA3}" dt="2026-05-23T06:14:57.505" v="7091"/>
          <ac:spMkLst>
            <pc:docMk/>
            <pc:sldMk cId="2408961926" sldId="265"/>
            <ac:spMk id="2" creationId="{AD0822BF-B0F3-A887-D474-6654192038AF}"/>
          </ac:spMkLst>
        </pc:spChg>
        <pc:spChg chg="mod">
          <ac:chgData name="kratagya Mishra" userId="81827b8e69644508" providerId="LiveId" clId="{A0684AB9-F867-410A-8CDA-F019454DDFA3}" dt="2026-05-23T06:14:38.708" v="7086" actId="27636"/>
          <ac:spMkLst>
            <pc:docMk/>
            <pc:sldMk cId="2408961926" sldId="265"/>
            <ac:spMk id="3" creationId="{23CEF208-36BA-E02B-B5BB-02017EF1B499}"/>
          </ac:spMkLst>
        </pc:spChg>
        <pc:picChg chg="add mod">
          <ac:chgData name="kratagya Mishra" userId="81827b8e69644508" providerId="LiveId" clId="{A0684AB9-F867-410A-8CDA-F019454DDFA3}" dt="2026-05-23T05:57:46.661" v="6949" actId="14100"/>
          <ac:picMkLst>
            <pc:docMk/>
            <pc:sldMk cId="2408961926" sldId="265"/>
            <ac:picMk id="5" creationId="{7C9804ED-CBBA-AC38-67BC-88B29436A7D2}"/>
          </ac:picMkLst>
        </pc:picChg>
        <pc:picChg chg="add mod">
          <ac:chgData name="kratagya Mishra" userId="81827b8e69644508" providerId="LiveId" clId="{A0684AB9-F867-410A-8CDA-F019454DDFA3}" dt="2026-05-23T06:11:07.283" v="7023" actId="14100"/>
          <ac:picMkLst>
            <pc:docMk/>
            <pc:sldMk cId="2408961926" sldId="265"/>
            <ac:picMk id="7" creationId="{AD1E0548-5C0A-B493-0449-AC767987F6AF}"/>
          </ac:picMkLst>
        </pc:picChg>
      </pc:sldChg>
      <pc:sldChg chg="addSp modSp new mod">
        <pc:chgData name="kratagya Mishra" userId="81827b8e69644508" providerId="LiveId" clId="{A0684AB9-F867-410A-8CDA-F019454DDFA3}" dt="2026-05-23T06:14:57.986" v="7103" actId="27636"/>
        <pc:sldMkLst>
          <pc:docMk/>
          <pc:sldMk cId="1216732813" sldId="266"/>
        </pc:sldMkLst>
        <pc:spChg chg="mod">
          <ac:chgData name="kratagya Mishra" userId="81827b8e69644508" providerId="LiveId" clId="{A0684AB9-F867-410A-8CDA-F019454DDFA3}" dt="2026-05-23T06:14:57.505" v="7091"/>
          <ac:spMkLst>
            <pc:docMk/>
            <pc:sldMk cId="1216732813" sldId="266"/>
            <ac:spMk id="2" creationId="{7E3A1C44-00F0-A5C1-8EFD-ABF133A6C8CC}"/>
          </ac:spMkLst>
        </pc:spChg>
        <pc:spChg chg="mod">
          <ac:chgData name="kratagya Mishra" userId="81827b8e69644508" providerId="LiveId" clId="{A0684AB9-F867-410A-8CDA-F019454DDFA3}" dt="2026-05-23T06:14:57.986" v="7103" actId="27636"/>
          <ac:spMkLst>
            <pc:docMk/>
            <pc:sldMk cId="1216732813" sldId="266"/>
            <ac:spMk id="3" creationId="{10978182-F642-C36A-5A18-B6D0F8274D51}"/>
          </ac:spMkLst>
        </pc:spChg>
        <pc:picChg chg="add mod">
          <ac:chgData name="kratagya Mishra" userId="81827b8e69644508" providerId="LiveId" clId="{A0684AB9-F867-410A-8CDA-F019454DDFA3}" dt="2026-05-23T05:58:17.709" v="6953" actId="14100"/>
          <ac:picMkLst>
            <pc:docMk/>
            <pc:sldMk cId="1216732813" sldId="266"/>
            <ac:picMk id="5" creationId="{AA911F50-535A-1EE7-C3AE-405DCD4D0322}"/>
          </ac:picMkLst>
        </pc:picChg>
      </pc:sldChg>
      <pc:sldChg chg="addSp delSp modSp new mod">
        <pc:chgData name="kratagya Mishra" userId="81827b8e69644508" providerId="LiveId" clId="{A0684AB9-F867-410A-8CDA-F019454DDFA3}" dt="2026-05-23T06:14:58.005" v="7104" actId="27636"/>
        <pc:sldMkLst>
          <pc:docMk/>
          <pc:sldMk cId="1721896820" sldId="267"/>
        </pc:sldMkLst>
        <pc:spChg chg="mod">
          <ac:chgData name="kratagya Mishra" userId="81827b8e69644508" providerId="LiveId" clId="{A0684AB9-F867-410A-8CDA-F019454DDFA3}" dt="2026-05-23T06:14:57.505" v="7091"/>
          <ac:spMkLst>
            <pc:docMk/>
            <pc:sldMk cId="1721896820" sldId="267"/>
            <ac:spMk id="2" creationId="{F3FD31EB-6167-2582-B49B-0B47490DDE8B}"/>
          </ac:spMkLst>
        </pc:spChg>
        <pc:spChg chg="mod">
          <ac:chgData name="kratagya Mishra" userId="81827b8e69644508" providerId="LiveId" clId="{A0684AB9-F867-410A-8CDA-F019454DDFA3}" dt="2026-05-23T06:14:58.005" v="7104" actId="27636"/>
          <ac:spMkLst>
            <pc:docMk/>
            <pc:sldMk cId="1721896820" sldId="267"/>
            <ac:spMk id="3" creationId="{160AF2E6-D387-5690-7414-78D10D7CD4B4}"/>
          </ac:spMkLst>
        </pc:spChg>
        <pc:picChg chg="add del mod">
          <ac:chgData name="kratagya Mishra" userId="81827b8e69644508" providerId="LiveId" clId="{A0684AB9-F867-410A-8CDA-F019454DDFA3}" dt="2026-05-23T06:09:34.386" v="7003" actId="21"/>
          <ac:picMkLst>
            <pc:docMk/>
            <pc:sldMk cId="1721896820" sldId="267"/>
            <ac:picMk id="5" creationId="{C111D553-ABE4-084E-4A18-7BA77C5BDF4C}"/>
          </ac:picMkLst>
        </pc:picChg>
        <pc:picChg chg="add mod">
          <ac:chgData name="kratagya Mishra" userId="81827b8e69644508" providerId="LiveId" clId="{A0684AB9-F867-410A-8CDA-F019454DDFA3}" dt="2026-05-23T06:10:27.556" v="7018" actId="14100"/>
          <ac:picMkLst>
            <pc:docMk/>
            <pc:sldMk cId="1721896820" sldId="267"/>
            <ac:picMk id="7" creationId="{BD02B579-4D34-FFA6-92F0-642A34706A18}"/>
          </ac:picMkLst>
        </pc:picChg>
      </pc:sldChg>
      <pc:sldChg chg="addSp delSp modSp new mod modNotesTx">
        <pc:chgData name="kratagya Mishra" userId="81827b8e69644508" providerId="LiveId" clId="{A0684AB9-F867-410A-8CDA-F019454DDFA3}" dt="2026-06-09T13:32:52.035" v="7233"/>
        <pc:sldMkLst>
          <pc:docMk/>
          <pc:sldMk cId="724349264" sldId="268"/>
        </pc:sldMkLst>
        <pc:spChg chg="mod">
          <ac:chgData name="kratagya Mishra" userId="81827b8e69644508" providerId="LiveId" clId="{A0684AB9-F867-410A-8CDA-F019454DDFA3}" dt="2026-05-23T06:14:57.505" v="7091"/>
          <ac:spMkLst>
            <pc:docMk/>
            <pc:sldMk cId="724349264" sldId="268"/>
            <ac:spMk id="2" creationId="{6F78A91E-D4B8-5AB4-53E2-167C8FA932E9}"/>
          </ac:spMkLst>
        </pc:spChg>
        <pc:spChg chg="del">
          <ac:chgData name="kratagya Mishra" userId="81827b8e69644508" providerId="LiveId" clId="{A0684AB9-F867-410A-8CDA-F019454DDFA3}" dt="2026-05-22T15:18:47.897" v="4901"/>
          <ac:spMkLst>
            <pc:docMk/>
            <pc:sldMk cId="724349264" sldId="268"/>
            <ac:spMk id="3" creationId="{D5101CE1-4799-47AC-7EFA-C8BF6E59056C}"/>
          </ac:spMkLst>
        </pc:spChg>
        <pc:graphicFrameChg chg="add mod modGraphic">
          <ac:chgData name="kratagya Mishra" userId="81827b8e69644508" providerId="LiveId" clId="{A0684AB9-F867-410A-8CDA-F019454DDFA3}" dt="2026-05-23T06:10:09.298" v="7012" actId="14100"/>
          <ac:graphicFrameMkLst>
            <pc:docMk/>
            <pc:sldMk cId="724349264" sldId="268"/>
            <ac:graphicFrameMk id="4" creationId="{5EF6888A-8C19-9E11-2EAE-9BB2AC93A9F6}"/>
          </ac:graphicFrameMkLst>
        </pc:graphicFrameChg>
        <pc:picChg chg="add mod">
          <ac:chgData name="kratagya Mishra" userId="81827b8e69644508" providerId="LiveId" clId="{A0684AB9-F867-410A-8CDA-F019454DDFA3}" dt="2026-05-23T06:10:15.267" v="7014" actId="14100"/>
          <ac:picMkLst>
            <pc:docMk/>
            <pc:sldMk cId="724349264" sldId="268"/>
            <ac:picMk id="5" creationId="{73801B26-0E7A-79A7-A3C5-2C5CEDF23B4D}"/>
          </ac:picMkLst>
        </pc:picChg>
      </pc:sldChg>
      <pc:sldChg chg="addSp modSp new mod modNotesTx">
        <pc:chgData name="kratagya Mishra" userId="81827b8e69644508" providerId="LiveId" clId="{A0684AB9-F867-410A-8CDA-F019454DDFA3}" dt="2026-06-09T13:40:00.084" v="7234"/>
        <pc:sldMkLst>
          <pc:docMk/>
          <pc:sldMk cId="1231111719" sldId="269"/>
        </pc:sldMkLst>
        <pc:spChg chg="mod">
          <ac:chgData name="kratagya Mishra" userId="81827b8e69644508" providerId="LiveId" clId="{A0684AB9-F867-410A-8CDA-F019454DDFA3}" dt="2026-05-23T06:14:57.505" v="7091"/>
          <ac:spMkLst>
            <pc:docMk/>
            <pc:sldMk cId="1231111719" sldId="269"/>
            <ac:spMk id="2" creationId="{011566BF-2E69-5BF9-A1FC-66AA8BCC50CE}"/>
          </ac:spMkLst>
        </pc:spChg>
        <pc:spChg chg="mod">
          <ac:chgData name="kratagya Mishra" userId="81827b8e69644508" providerId="LiveId" clId="{A0684AB9-F867-410A-8CDA-F019454DDFA3}" dt="2026-06-04T15:05:35.070" v="7232" actId="313"/>
          <ac:spMkLst>
            <pc:docMk/>
            <pc:sldMk cId="1231111719" sldId="269"/>
            <ac:spMk id="3" creationId="{01999BEC-3D10-34B4-27D6-9361EC3E81F2}"/>
          </ac:spMkLst>
        </pc:spChg>
        <pc:picChg chg="add mod">
          <ac:chgData name="kratagya Mishra" userId="81827b8e69644508" providerId="LiveId" clId="{A0684AB9-F867-410A-8CDA-F019454DDFA3}" dt="2026-05-23T05:59:42.353" v="6961" actId="14100"/>
          <ac:picMkLst>
            <pc:docMk/>
            <pc:sldMk cId="1231111719" sldId="269"/>
            <ac:picMk id="5" creationId="{38B9F5FE-EA14-FFF2-6828-7A18C1AA5006}"/>
          </ac:picMkLst>
        </pc:picChg>
      </pc:sldChg>
      <pc:sldChg chg="addSp modSp new mod modNotesTx">
        <pc:chgData name="kratagya Mishra" userId="81827b8e69644508" providerId="LiveId" clId="{A0684AB9-F867-410A-8CDA-F019454DDFA3}" dt="2026-06-09T13:47:18.239" v="7237"/>
        <pc:sldMkLst>
          <pc:docMk/>
          <pc:sldMk cId="2979085117" sldId="270"/>
        </pc:sldMkLst>
        <pc:spChg chg="mod">
          <ac:chgData name="kratagya Mishra" userId="81827b8e69644508" providerId="LiveId" clId="{A0684AB9-F867-410A-8CDA-F019454DDFA3}" dt="2026-05-23T06:14:58.082" v="7107" actId="27636"/>
          <ac:spMkLst>
            <pc:docMk/>
            <pc:sldMk cId="2979085117" sldId="270"/>
            <ac:spMk id="2" creationId="{34AFF516-D37E-BDB2-672D-7A1515B740BB}"/>
          </ac:spMkLst>
        </pc:spChg>
        <pc:spChg chg="mod">
          <ac:chgData name="kratagya Mishra" userId="81827b8e69644508" providerId="LiveId" clId="{A0684AB9-F867-410A-8CDA-F019454DDFA3}" dt="2026-05-23T06:28:10.679" v="7221" actId="20577"/>
          <ac:spMkLst>
            <pc:docMk/>
            <pc:sldMk cId="2979085117" sldId="270"/>
            <ac:spMk id="3" creationId="{A8E0FD12-1300-3F87-7E26-BF457EB24EB7}"/>
          </ac:spMkLst>
        </pc:spChg>
        <pc:picChg chg="add mod">
          <ac:chgData name="kratagya Mishra" userId="81827b8e69644508" providerId="LiveId" clId="{A0684AB9-F867-410A-8CDA-F019454DDFA3}" dt="2026-05-23T06:11:53.950" v="7029" actId="14100"/>
          <ac:picMkLst>
            <pc:docMk/>
            <pc:sldMk cId="2979085117" sldId="270"/>
            <ac:picMk id="5" creationId="{937E9039-B5F7-B967-5FB4-766EA5B81764}"/>
          </ac:picMkLst>
        </pc:picChg>
      </pc:sldChg>
      <pc:sldChg chg="addSp delSp modSp new del mod">
        <pc:chgData name="kratagya Mishra" userId="81827b8e69644508" providerId="LiveId" clId="{A0684AB9-F867-410A-8CDA-F019454DDFA3}" dt="2026-05-22T15:31:54.834" v="5522" actId="2696"/>
        <pc:sldMkLst>
          <pc:docMk/>
          <pc:sldMk cId="4187144975" sldId="270"/>
        </pc:sldMkLst>
        <pc:spChg chg="mod">
          <ac:chgData name="kratagya Mishra" userId="81827b8e69644508" providerId="LiveId" clId="{A0684AB9-F867-410A-8CDA-F019454DDFA3}" dt="2026-05-22T15:31:30.206" v="5517" actId="6549"/>
          <ac:spMkLst>
            <pc:docMk/>
            <pc:sldMk cId="4187144975" sldId="270"/>
            <ac:spMk id="2" creationId="{5EE4B802-E863-5700-F5F4-308E420AC811}"/>
          </ac:spMkLst>
        </pc:spChg>
        <pc:spChg chg="del mod">
          <ac:chgData name="kratagya Mishra" userId="81827b8e69644508" providerId="LiveId" clId="{A0684AB9-F867-410A-8CDA-F019454DDFA3}" dt="2026-05-22T15:30:17.651" v="5510" actId="21"/>
          <ac:spMkLst>
            <pc:docMk/>
            <pc:sldMk cId="4187144975" sldId="270"/>
            <ac:spMk id="3" creationId="{3BAE0AD5-1690-8065-7B64-0220C3C7EB4F}"/>
          </ac:spMkLst>
        </pc:spChg>
        <pc:spChg chg="add del mod">
          <ac:chgData name="kratagya Mishra" userId="81827b8e69644508" providerId="LiveId" clId="{A0684AB9-F867-410A-8CDA-F019454DDFA3}" dt="2026-05-22T15:30:17.674" v="5512"/>
          <ac:spMkLst>
            <pc:docMk/>
            <pc:sldMk cId="4187144975" sldId="270"/>
            <ac:spMk id="4" creationId="{28B6E783-322C-634E-8901-84DD020B67A8}"/>
          </ac:spMkLst>
        </pc:spChg>
        <pc:spChg chg="add del">
          <ac:chgData name="kratagya Mishra" userId="81827b8e69644508" providerId="LiveId" clId="{A0684AB9-F867-410A-8CDA-F019454DDFA3}" dt="2026-05-22T15:30:17.651" v="5510" actId="21"/>
          <ac:spMkLst>
            <pc:docMk/>
            <pc:sldMk cId="4187144975" sldId="270"/>
            <ac:spMk id="5" creationId="{9C0DFDBE-7BD8-9B7F-4D5D-8B3BDE6C8DA7}"/>
          </ac:spMkLst>
        </pc:spChg>
        <pc:spChg chg="add mod">
          <ac:chgData name="kratagya Mishra" userId="81827b8e69644508" providerId="LiveId" clId="{A0684AB9-F867-410A-8CDA-F019454DDFA3}" dt="2026-05-22T15:30:17.651" v="5510" actId="21"/>
          <ac:spMkLst>
            <pc:docMk/>
            <pc:sldMk cId="4187144975" sldId="270"/>
            <ac:spMk id="6" creationId="{B0B3CEFC-38DD-7441-EAE0-B5C26C75ADF4}"/>
          </ac:spMkLst>
        </pc:spChg>
        <pc:spChg chg="add del mod">
          <ac:chgData name="kratagya Mishra" userId="81827b8e69644508" providerId="LiveId" clId="{A0684AB9-F867-410A-8CDA-F019454DDFA3}" dt="2026-05-22T15:31:48.484" v="5521"/>
          <ac:spMkLst>
            <pc:docMk/>
            <pc:sldMk cId="4187144975" sldId="270"/>
            <ac:spMk id="7" creationId="{715D251B-7B62-7864-9273-A671A281906E}"/>
          </ac:spMkLst>
        </pc:spChg>
        <pc:spChg chg="add">
          <ac:chgData name="kratagya Mishra" userId="81827b8e69644508" providerId="LiveId" clId="{A0684AB9-F867-410A-8CDA-F019454DDFA3}" dt="2026-05-22T15:30:57.502" v="5515"/>
          <ac:spMkLst>
            <pc:docMk/>
            <pc:sldMk cId="4187144975" sldId="270"/>
            <ac:spMk id="8" creationId="{1AB1AB11-C769-4504-4CE7-BBD9062C5E39}"/>
          </ac:spMkLst>
        </pc:spChg>
        <pc:spChg chg="add">
          <ac:chgData name="kratagya Mishra" userId="81827b8e69644508" providerId="LiveId" clId="{A0684AB9-F867-410A-8CDA-F019454DDFA3}" dt="2026-05-22T15:30:57.502" v="5515"/>
          <ac:spMkLst>
            <pc:docMk/>
            <pc:sldMk cId="4187144975" sldId="270"/>
            <ac:spMk id="9" creationId="{23A2294B-7538-7685-6C62-788688F1676E}"/>
          </ac:spMkLst>
        </pc:spChg>
        <pc:spChg chg="add">
          <ac:chgData name="kratagya Mishra" userId="81827b8e69644508" providerId="LiveId" clId="{A0684AB9-F867-410A-8CDA-F019454DDFA3}" dt="2026-05-22T15:30:57.502" v="5515"/>
          <ac:spMkLst>
            <pc:docMk/>
            <pc:sldMk cId="4187144975" sldId="270"/>
            <ac:spMk id="10" creationId="{BB537CE6-4159-F1D3-7388-3FE9A170D92F}"/>
          </ac:spMkLst>
        </pc:spChg>
        <pc:spChg chg="add">
          <ac:chgData name="kratagya Mishra" userId="81827b8e69644508" providerId="LiveId" clId="{A0684AB9-F867-410A-8CDA-F019454DDFA3}" dt="2026-05-22T15:30:57.502" v="5515"/>
          <ac:spMkLst>
            <pc:docMk/>
            <pc:sldMk cId="4187144975" sldId="270"/>
            <ac:spMk id="11" creationId="{1B06DE02-C7F8-B73E-FB0F-B17CF853DCC1}"/>
          </ac:spMkLst>
        </pc:spChg>
        <pc:spChg chg="add">
          <ac:chgData name="kratagya Mishra" userId="81827b8e69644508" providerId="LiveId" clId="{A0684AB9-F867-410A-8CDA-F019454DDFA3}" dt="2026-05-22T15:30:57.502" v="5515"/>
          <ac:spMkLst>
            <pc:docMk/>
            <pc:sldMk cId="4187144975" sldId="270"/>
            <ac:spMk id="12" creationId="{29124FAC-2147-11DF-8E30-4BB1D93F45FA}"/>
          </ac:spMkLst>
        </pc:spChg>
        <pc:spChg chg="add">
          <ac:chgData name="kratagya Mishra" userId="81827b8e69644508" providerId="LiveId" clId="{A0684AB9-F867-410A-8CDA-F019454DDFA3}" dt="2026-05-22T15:30:57.502" v="5515"/>
          <ac:spMkLst>
            <pc:docMk/>
            <pc:sldMk cId="4187144975" sldId="270"/>
            <ac:spMk id="13" creationId="{B1ED5EA4-E8BD-5A5F-DB09-61501597CE44}"/>
          </ac:spMkLst>
        </pc:spChg>
      </pc:sldChg>
      <pc:sldChg chg="addSp delSp modSp new mod">
        <pc:chgData name="kratagya Mishra" userId="81827b8e69644508" providerId="LiveId" clId="{A0684AB9-F867-410A-8CDA-F019454DDFA3}" dt="2026-05-23T07:00:31.917" v="7223" actId="22"/>
        <pc:sldMkLst>
          <pc:docMk/>
          <pc:sldMk cId="2274169113" sldId="271"/>
        </pc:sldMkLst>
        <pc:picChg chg="add del mod">
          <ac:chgData name="kratagya Mishra" userId="81827b8e69644508" providerId="LiveId" clId="{A0684AB9-F867-410A-8CDA-F019454DDFA3}" dt="2026-05-23T07:00:13.471" v="7222" actId="21"/>
          <ac:picMkLst>
            <pc:docMk/>
            <pc:sldMk cId="2274169113" sldId="271"/>
            <ac:picMk id="3" creationId="{B302D092-66BF-978E-8F4F-77167C249B85}"/>
          </ac:picMkLst>
        </pc:picChg>
        <pc:picChg chg="add">
          <ac:chgData name="kratagya Mishra" userId="81827b8e69644508" providerId="LiveId" clId="{A0684AB9-F867-410A-8CDA-F019454DDFA3}" dt="2026-05-23T07:00:31.917" v="7223" actId="22"/>
          <ac:picMkLst>
            <pc:docMk/>
            <pc:sldMk cId="2274169113" sldId="271"/>
            <ac:picMk id="4" creationId="{FDD85EEE-01E4-E382-77D6-053585FA33A4}"/>
          </ac:picMkLst>
        </pc:picChg>
      </pc:sldChg>
    </pc:docChg>
  </pc:docChgLst>
  <pc:docChgLst>
    <pc:chgData name="kratagya Mishra" userId="81827b8e69644508" providerId="LiveId" clId="{2AF365C5-73F4-4780-983D-5E51A3EB44AF}"/>
    <pc:docChg chg="custSel addSld modSld">
      <pc:chgData name="kratagya Mishra" userId="81827b8e69644508" providerId="LiveId" clId="{2AF365C5-73F4-4780-983D-5E51A3EB44AF}" dt="2026-07-17T13:53:59.384" v="24" actId="14100"/>
      <pc:docMkLst>
        <pc:docMk/>
      </pc:docMkLst>
      <pc:sldChg chg="modSp mod">
        <pc:chgData name="kratagya Mishra" userId="81827b8e69644508" providerId="LiveId" clId="{2AF365C5-73F4-4780-983D-5E51A3EB44AF}" dt="2026-07-17T12:29:46.056" v="1" actId="20577"/>
        <pc:sldMkLst>
          <pc:docMk/>
          <pc:sldMk cId="3510327907" sldId="261"/>
        </pc:sldMkLst>
        <pc:spChg chg="mod">
          <ac:chgData name="kratagya Mishra" userId="81827b8e69644508" providerId="LiveId" clId="{2AF365C5-73F4-4780-983D-5E51A3EB44AF}" dt="2026-07-17T12:29:46.056" v="1" actId="20577"/>
          <ac:spMkLst>
            <pc:docMk/>
            <pc:sldMk cId="3510327907" sldId="261"/>
            <ac:spMk id="3" creationId="{A876A87E-00F1-9A49-C578-30DF00603393}"/>
          </ac:spMkLst>
        </pc:spChg>
      </pc:sldChg>
      <pc:sldChg chg="modSp mod">
        <pc:chgData name="kratagya Mishra" userId="81827b8e69644508" providerId="LiveId" clId="{2AF365C5-73F4-4780-983D-5E51A3EB44AF}" dt="2026-07-17T13:10:11.178" v="6" actId="20577"/>
        <pc:sldMkLst>
          <pc:docMk/>
          <pc:sldMk cId="3040472510" sldId="263"/>
        </pc:sldMkLst>
        <pc:spChg chg="mod">
          <ac:chgData name="kratagya Mishra" userId="81827b8e69644508" providerId="LiveId" clId="{2AF365C5-73F4-4780-983D-5E51A3EB44AF}" dt="2026-07-17T13:10:11.178" v="6" actId="20577"/>
          <ac:spMkLst>
            <pc:docMk/>
            <pc:sldMk cId="3040472510" sldId="263"/>
            <ac:spMk id="3" creationId="{E706BA6E-F040-93B8-0B44-593D8FED3652}"/>
          </ac:spMkLst>
        </pc:spChg>
      </pc:sldChg>
      <pc:sldChg chg="addSp delSp modSp mod">
        <pc:chgData name="kratagya Mishra" userId="81827b8e69644508" providerId="LiveId" clId="{2AF365C5-73F4-4780-983D-5E51A3EB44AF}" dt="2026-07-17T13:53:59.384" v="24" actId="14100"/>
        <pc:sldMkLst>
          <pc:docMk/>
          <pc:sldMk cId="2274169113" sldId="271"/>
        </pc:sldMkLst>
        <pc:picChg chg="add mod">
          <ac:chgData name="kratagya Mishra" userId="81827b8e69644508" providerId="LiveId" clId="{2AF365C5-73F4-4780-983D-5E51A3EB44AF}" dt="2026-07-17T13:53:59.384" v="24" actId="14100"/>
          <ac:picMkLst>
            <pc:docMk/>
            <pc:sldMk cId="2274169113" sldId="271"/>
            <ac:picMk id="3" creationId="{8A9199E4-7F1A-D366-898A-74342B425F78}"/>
          </ac:picMkLst>
        </pc:picChg>
        <pc:picChg chg="del">
          <ac:chgData name="kratagya Mishra" userId="81827b8e69644508" providerId="LiveId" clId="{2AF365C5-73F4-4780-983D-5E51A3EB44AF}" dt="2026-07-17T13:53:03.368" v="19" actId="21"/>
          <ac:picMkLst>
            <pc:docMk/>
            <pc:sldMk cId="2274169113" sldId="271"/>
            <ac:picMk id="4" creationId="{FDD85EEE-01E4-E382-77D6-053585FA33A4}"/>
          </ac:picMkLst>
        </pc:picChg>
      </pc:sldChg>
      <pc:sldChg chg="addSp modSp new mod">
        <pc:chgData name="kratagya Mishra" userId="81827b8e69644508" providerId="LiveId" clId="{2AF365C5-73F4-4780-983D-5E51A3EB44AF}" dt="2026-07-17T13:30:08.607" v="18" actId="14100"/>
        <pc:sldMkLst>
          <pc:docMk/>
          <pc:sldMk cId="3290280385" sldId="272"/>
        </pc:sldMkLst>
        <pc:picChg chg="add mod">
          <ac:chgData name="kratagya Mishra" userId="81827b8e69644508" providerId="LiveId" clId="{2AF365C5-73F4-4780-983D-5E51A3EB44AF}" dt="2026-07-17T13:29:59.824" v="16" actId="14100"/>
          <ac:picMkLst>
            <pc:docMk/>
            <pc:sldMk cId="3290280385" sldId="272"/>
            <ac:picMk id="2" creationId="{795D7543-4C0B-CA54-E36B-CB05F0B8AEBA}"/>
          </ac:picMkLst>
        </pc:picChg>
        <pc:picChg chg="add mod">
          <ac:chgData name="kratagya Mishra" userId="81827b8e69644508" providerId="LiveId" clId="{2AF365C5-73F4-4780-983D-5E51A3EB44AF}" dt="2026-07-17T13:30:08.607" v="18" actId="14100"/>
          <ac:picMkLst>
            <pc:docMk/>
            <pc:sldMk cId="3290280385" sldId="272"/>
            <ac:picMk id="3" creationId="{38D4C478-8CFA-45AB-64D2-DDC966B45DD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F58398-E447-4652-8F01-6727EE934EC1}" type="datetimeFigureOut">
              <a:rPr lang="en-US" smtClean="0"/>
              <a:t>7/17/2026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049EFD-E70A-4FEC-A053-205D5601E5F3}" type="slidenum">
              <a:rPr lang="en-US" smtClean="0"/>
              <a:t>‹#›</a:t>
            </a:fld>
            <a:endParaRPr lang="en-US"/>
          </a:p>
        </p:txBody>
      </p:sp>
    </p:spTree>
    <p:extLst>
      <p:ext uri="{BB962C8B-B14F-4D97-AF65-F5344CB8AC3E}">
        <p14:creationId xmlns:p14="http://schemas.microsoft.com/office/powerpoint/2010/main" val="3103963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capstone project is based on behavioral finance and digital spending behavior. In this project, I studied how digital payment convenience has changed spending habits and financial awareness among users. The project also proposes a behavioral finance framework called AspiraFi, which focuses on encouraging mindful spending behavior without reducing convenience. India’s rapid UPI growth made this topic very relevant and practical to study.</a:t>
            </a:r>
          </a:p>
          <a:p>
            <a:endParaRPr lang="en-US" dirty="0"/>
          </a:p>
        </p:txBody>
      </p:sp>
      <p:sp>
        <p:nvSpPr>
          <p:cNvPr id="4" name="Slide Number Placeholder 3"/>
          <p:cNvSpPr>
            <a:spLocks noGrp="1"/>
          </p:cNvSpPr>
          <p:nvPr>
            <p:ph type="sldNum" sz="quarter" idx="5"/>
          </p:nvPr>
        </p:nvSpPr>
        <p:spPr/>
        <p:txBody>
          <a:bodyPr/>
          <a:lstStyle/>
          <a:p>
            <a:fld id="{ED049EFD-E70A-4FEC-A053-205D5601E5F3}" type="slidenum">
              <a:rPr lang="en-US" smtClean="0"/>
              <a:t>1</a:t>
            </a:fld>
            <a:endParaRPr lang="en-US"/>
          </a:p>
        </p:txBody>
      </p:sp>
    </p:spTree>
    <p:extLst>
      <p:ext uri="{BB962C8B-B14F-4D97-AF65-F5344CB8AC3E}">
        <p14:creationId xmlns:p14="http://schemas.microsoft.com/office/powerpoint/2010/main" val="1250930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experienced rapid growth in digital payments through platforms such as Google Pay, PhonePe, and Paytm. Payments have become faster, easier, and more accessible for daily transactions. Today, even very small expenses like coffee, food delivery, or subscriptions happen digitally within seconds. However, this convenience has also reduced spending awareness for many users. Sometimes people spend frequently without realizing how much small expenses accumulate over time. This topic became important to study because convenience is increasing, but financial awareness is not always increasing at the same pace.</a:t>
            </a:r>
          </a:p>
        </p:txBody>
      </p:sp>
      <p:sp>
        <p:nvSpPr>
          <p:cNvPr id="4" name="Slide Number Placeholder 3"/>
          <p:cNvSpPr>
            <a:spLocks noGrp="1"/>
          </p:cNvSpPr>
          <p:nvPr>
            <p:ph type="sldNum" sz="quarter" idx="5"/>
          </p:nvPr>
        </p:nvSpPr>
        <p:spPr/>
        <p:txBody>
          <a:bodyPr/>
          <a:lstStyle/>
          <a:p>
            <a:fld id="{ED049EFD-E70A-4FEC-A053-205D5601E5F3}" type="slidenum">
              <a:rPr lang="en-US" smtClean="0"/>
              <a:t>2</a:t>
            </a:fld>
            <a:endParaRPr lang="en-US"/>
          </a:p>
        </p:txBody>
      </p:sp>
    </p:spTree>
    <p:extLst>
      <p:ext uri="{BB962C8B-B14F-4D97-AF65-F5344CB8AC3E}">
        <p14:creationId xmlns:p14="http://schemas.microsoft.com/office/powerpoint/2010/main" val="748756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identified in this project is reduced psychological awareness during digital spending. Digital transactions are completed instantly, so users often do not feel the same spending awareness compared to cash payments. Many people realize they overspent only at the end of the month, not during the spending process itself. Convenience and frictionless payments may encourage impulsive and emotionally influenced purchases. Current fintech platforms mainly focus on transaction speed and ease of use, but there are limited features supporting mindful financial behavior and spending awareness.</a:t>
            </a:r>
          </a:p>
        </p:txBody>
      </p:sp>
      <p:sp>
        <p:nvSpPr>
          <p:cNvPr id="4" name="Slide Number Placeholder 3"/>
          <p:cNvSpPr>
            <a:spLocks noGrp="1"/>
          </p:cNvSpPr>
          <p:nvPr>
            <p:ph type="sldNum" sz="quarter" idx="5"/>
          </p:nvPr>
        </p:nvSpPr>
        <p:spPr/>
        <p:txBody>
          <a:bodyPr/>
          <a:lstStyle/>
          <a:p>
            <a:fld id="{ED049EFD-E70A-4FEC-A053-205D5601E5F3}" type="slidenum">
              <a:rPr lang="en-US" smtClean="0"/>
              <a:t>3</a:t>
            </a:fld>
            <a:endParaRPr lang="en-US"/>
          </a:p>
        </p:txBody>
      </p:sp>
    </p:spTree>
    <p:extLst>
      <p:ext uri="{BB962C8B-B14F-4D97-AF65-F5344CB8AC3E}">
        <p14:creationId xmlns:p14="http://schemas.microsoft.com/office/powerpoint/2010/main" val="1632335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digital spending currently happens in most payment systems. First, the user opens a digital payment application and completes the transaction instantly within seconds. Because the process is so fast and frictionless, spending often feels almost invisible psychologically. Repeated small transactions then accumulate over time and may reduce financial discipline. For example, people may feel that small daily expenses are not significant individually, but collectively they become larger monthly expenses. Current systems mainly prioritize convenience and speed rather than spending awareness.</a:t>
            </a:r>
          </a:p>
        </p:txBody>
      </p:sp>
      <p:sp>
        <p:nvSpPr>
          <p:cNvPr id="4" name="Slide Number Placeholder 3"/>
          <p:cNvSpPr>
            <a:spLocks noGrp="1"/>
          </p:cNvSpPr>
          <p:nvPr>
            <p:ph type="sldNum" sz="quarter" idx="5"/>
          </p:nvPr>
        </p:nvSpPr>
        <p:spPr/>
        <p:txBody>
          <a:bodyPr/>
          <a:lstStyle/>
          <a:p>
            <a:fld id="{ED049EFD-E70A-4FEC-A053-205D5601E5F3}" type="slidenum">
              <a:rPr lang="en-US" smtClean="0"/>
              <a:t>4</a:t>
            </a:fld>
            <a:endParaRPr lang="en-US"/>
          </a:p>
        </p:txBody>
      </p:sp>
    </p:spTree>
    <p:extLst>
      <p:ext uri="{BB962C8B-B14F-4D97-AF65-F5344CB8AC3E}">
        <p14:creationId xmlns:p14="http://schemas.microsoft.com/office/powerpoint/2010/main" val="3349691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based on concepts from behavioral finance and consumer spending psychology. One important concept used in this project is the pain of paying theory, which explains that people tend to spend more easily when the psychological discomfort of payment is reduced. Digital payments reduce this discomfort because transactions happen quickly and feel less tangible compared to cash. The project also studies impulsive spending behavior and financial awareness patterns. Survey analysis, correlation analysis, and regression analysis were used to understand the relationship between digital payment usage and spending behavior. This framework helps connect psychology with financial decision-making.</a:t>
            </a:r>
          </a:p>
        </p:txBody>
      </p:sp>
      <p:sp>
        <p:nvSpPr>
          <p:cNvPr id="4" name="Slide Number Placeholder 3"/>
          <p:cNvSpPr>
            <a:spLocks noGrp="1"/>
          </p:cNvSpPr>
          <p:nvPr>
            <p:ph type="sldNum" sz="quarter" idx="5"/>
          </p:nvPr>
        </p:nvSpPr>
        <p:spPr/>
        <p:txBody>
          <a:bodyPr/>
          <a:lstStyle/>
          <a:p>
            <a:fld id="{ED049EFD-E70A-4FEC-A053-205D5601E5F3}" type="slidenum">
              <a:rPr lang="en-US" smtClean="0"/>
              <a:t>5</a:t>
            </a:fld>
            <a:endParaRPr lang="en-US"/>
          </a:p>
        </p:txBody>
      </p:sp>
    </p:spTree>
    <p:extLst>
      <p:ext uri="{BB962C8B-B14F-4D97-AF65-F5344CB8AC3E}">
        <p14:creationId xmlns:p14="http://schemas.microsoft.com/office/powerpoint/2010/main" val="2664440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both primary and secondary sources of data. Primary data was collected through a Google Forms survey focusing on digitally active individuals and their spending behavior. Secondary data included research papers, journals, behavioral finance studies, and digital payment reports. The major variables studied were digital payment usage, spending frequency, financial awareness, impulsive spending behavior, and emotional spending triggers. One interesting observation during the survey was that many people remembered transactions but were not fully aware of their total spending patterns. The project also had limitations such as limited sample size and time constraints.</a:t>
            </a:r>
          </a:p>
        </p:txBody>
      </p:sp>
      <p:sp>
        <p:nvSpPr>
          <p:cNvPr id="4" name="Slide Number Placeholder 3"/>
          <p:cNvSpPr>
            <a:spLocks noGrp="1"/>
          </p:cNvSpPr>
          <p:nvPr>
            <p:ph type="sldNum" sz="quarter" idx="5"/>
          </p:nvPr>
        </p:nvSpPr>
        <p:spPr/>
        <p:txBody>
          <a:bodyPr/>
          <a:lstStyle/>
          <a:p>
            <a:fld id="{ED049EFD-E70A-4FEC-A053-205D5601E5F3}" type="slidenum">
              <a:rPr lang="en-US" smtClean="0"/>
              <a:t>6</a:t>
            </a:fld>
            <a:endParaRPr lang="en-US"/>
          </a:p>
        </p:txBody>
      </p:sp>
    </p:spTree>
    <p:extLst>
      <p:ext uri="{BB962C8B-B14F-4D97-AF65-F5344CB8AC3E}">
        <p14:creationId xmlns:p14="http://schemas.microsoft.com/office/powerpoint/2010/main" val="1112048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presents the major findings from the survey and behavioral analysis. The analysis showed that frequent digital payment users displayed higher impulsive spending tendencies. Many respondents mentioned that small online transactions often go unnoticed during daily spending. Emotional factors such as stress, excitement, boredom, and discounts also influence spending decisions. Another important observation was that people usually track transactions but not their overall spending habits. This suggests that transaction awareness and financial awareness are not always the same thing. Convenience increased digital payment usage, but not necessarily financial discipline.</a:t>
            </a:r>
          </a:p>
          <a:p>
            <a:endParaRPr lang="en-US" dirty="0"/>
          </a:p>
        </p:txBody>
      </p:sp>
      <p:sp>
        <p:nvSpPr>
          <p:cNvPr id="4" name="Slide Number Placeholder 3"/>
          <p:cNvSpPr>
            <a:spLocks noGrp="1"/>
          </p:cNvSpPr>
          <p:nvPr>
            <p:ph type="sldNum" sz="quarter" idx="5"/>
          </p:nvPr>
        </p:nvSpPr>
        <p:spPr/>
        <p:txBody>
          <a:bodyPr/>
          <a:lstStyle/>
          <a:p>
            <a:fld id="{ED049EFD-E70A-4FEC-A053-205D5601E5F3}" type="slidenum">
              <a:rPr lang="en-US" smtClean="0"/>
              <a:t>7</a:t>
            </a:fld>
            <a:endParaRPr lang="en-US"/>
          </a:p>
        </p:txBody>
      </p:sp>
    </p:spTree>
    <p:extLst>
      <p:ext uri="{BB962C8B-B14F-4D97-AF65-F5344CB8AC3E}">
        <p14:creationId xmlns:p14="http://schemas.microsoft.com/office/powerpoint/2010/main" val="3810422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presents the Key Performance Indicators that will be used to evaluate the effectiveness of AspiraFi. The KPIs compare the current situation with the expected target after implementation. The first KPI is Spending Awareness Level, where the objective is to increase users’ understanding of their spending habits. The second KPI is Impulsive Spending Frequency, where the aim is to reduce unnecessary and unplanned purchases through behavioral insights and awareness prompts. The third KPI is Financial Goal Tracking, which focuses on encouraging users to actively monitor and achieve their financial objectives. The fourth KPI measures User Engagement with Financial Tools, ensuring that users regularly interact with budgeting and awareness features. Finally, Mindful Spending Behavior evaluates whether users are making more conscious and informed financial decisions. Together, these KPIs help measure the success of AspiraFi in promoting responsible digital spending and improving financial well-being.</a:t>
            </a:r>
          </a:p>
          <a:p>
            <a:endParaRPr lang="en-US" dirty="0"/>
          </a:p>
        </p:txBody>
      </p:sp>
      <p:sp>
        <p:nvSpPr>
          <p:cNvPr id="4" name="Slide Number Placeholder 3"/>
          <p:cNvSpPr>
            <a:spLocks noGrp="1"/>
          </p:cNvSpPr>
          <p:nvPr>
            <p:ph type="sldNum" sz="quarter" idx="5"/>
          </p:nvPr>
        </p:nvSpPr>
        <p:spPr/>
        <p:txBody>
          <a:bodyPr/>
          <a:lstStyle/>
          <a:p>
            <a:fld id="{ED049EFD-E70A-4FEC-A053-205D5601E5F3}" type="slidenum">
              <a:rPr lang="en-US" smtClean="0"/>
              <a:t>14</a:t>
            </a:fld>
            <a:endParaRPr lang="en-US"/>
          </a:p>
        </p:txBody>
      </p:sp>
    </p:spTree>
    <p:extLst>
      <p:ext uri="{BB962C8B-B14F-4D97-AF65-F5344CB8AC3E}">
        <p14:creationId xmlns:p14="http://schemas.microsoft.com/office/powerpoint/2010/main" val="1061337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highlights the strategic impact of AspiraFi on both users and organizations. The first impact is creating a competitive advantage for fintech companies by differentiating them from competitors through behavioral finance and spending awareness features. The second impact is long-term value creation, where increased trust, customer loyalty, and responsible financial behavior contribute to sustainable growth. The third impact is organizational capability enhancement. By understanding customer spending patterns and behavioral insights, organizations can improve decision-making, product development, and customer engagement strategies. Overall, AspiraFi delivers value beyond individual users by strengthening business performance and supporting long-term organizational success.</a:t>
            </a:r>
          </a:p>
          <a:p>
            <a:endParaRPr lang="en-US" dirty="0"/>
          </a:p>
        </p:txBody>
      </p:sp>
      <p:sp>
        <p:nvSpPr>
          <p:cNvPr id="4" name="Slide Number Placeholder 3"/>
          <p:cNvSpPr>
            <a:spLocks noGrp="1"/>
          </p:cNvSpPr>
          <p:nvPr>
            <p:ph type="sldNum" sz="quarter" idx="5"/>
          </p:nvPr>
        </p:nvSpPr>
        <p:spPr/>
        <p:txBody>
          <a:bodyPr/>
          <a:lstStyle/>
          <a:p>
            <a:fld id="{ED049EFD-E70A-4FEC-A053-205D5601E5F3}" type="slidenum">
              <a:rPr lang="en-US" smtClean="0"/>
              <a:t>15</a:t>
            </a:fld>
            <a:endParaRPr lang="en-US"/>
          </a:p>
        </p:txBody>
      </p:sp>
    </p:spTree>
    <p:extLst>
      <p:ext uri="{BB962C8B-B14F-4D97-AF65-F5344CB8AC3E}">
        <p14:creationId xmlns:p14="http://schemas.microsoft.com/office/powerpoint/2010/main" val="2005845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summarizes the key findings, recommendations, and overall conclusion of the study. The research found that digital payment systems have significantly improved convenience but may also reduce spending awareness and encourage impulsive spending behavior. The study highlights the importance of behavioral finance in understanding these spending patterns. Based on these findings, the recommendation is to integrate behavioral awareness tools, goal-based nudges, and financial guidance features into digital payment ecosystems. The proposed framework, AspiraFi, aims to bridge the gap between convenience and awareness by helping users better understand their financial behavior. The expected outcome is improved spending awareness, reduced impulsive spending, stronger financial discipline, and enhanced user engagement. In conclusion, the study demonstrates that combining digital convenience with behavioral finance principles can promote more mindful and responsible financial decision-making.</a:t>
            </a:r>
          </a:p>
          <a:p>
            <a:endParaRPr lang="en-US" dirty="0"/>
          </a:p>
        </p:txBody>
      </p:sp>
      <p:sp>
        <p:nvSpPr>
          <p:cNvPr id="4" name="Slide Number Placeholder 3"/>
          <p:cNvSpPr>
            <a:spLocks noGrp="1"/>
          </p:cNvSpPr>
          <p:nvPr>
            <p:ph type="sldNum" sz="quarter" idx="5"/>
          </p:nvPr>
        </p:nvSpPr>
        <p:spPr/>
        <p:txBody>
          <a:bodyPr/>
          <a:lstStyle/>
          <a:p>
            <a:fld id="{ED049EFD-E70A-4FEC-A053-205D5601E5F3}" type="slidenum">
              <a:rPr lang="en-US" smtClean="0"/>
              <a:t>16</a:t>
            </a:fld>
            <a:endParaRPr lang="en-US"/>
          </a:p>
        </p:txBody>
      </p:sp>
    </p:spTree>
    <p:extLst>
      <p:ext uri="{BB962C8B-B14F-4D97-AF65-F5344CB8AC3E}">
        <p14:creationId xmlns:p14="http://schemas.microsoft.com/office/powerpoint/2010/main" val="2052690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5BB5680D-DCC3-483F-A128-6592337407B8}" type="datetimeFigureOut">
              <a:rPr lang="en-US" smtClean="0"/>
              <a:t>7/17/2026</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63231BE5-4A07-4943-BAFD-7D5ECC9A7001}" type="slidenum">
              <a:rPr lang="en-US" smtClean="0"/>
              <a:t>‹#›</a:t>
            </a:fld>
            <a:endParaRPr lang="en-US"/>
          </a:p>
        </p:txBody>
      </p:sp>
    </p:spTree>
    <p:extLst>
      <p:ext uri="{BB962C8B-B14F-4D97-AF65-F5344CB8AC3E}">
        <p14:creationId xmlns:p14="http://schemas.microsoft.com/office/powerpoint/2010/main" val="166766033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B5680D-DCC3-483F-A128-6592337407B8}"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231BE5-4A07-4943-BAFD-7D5ECC9A7001}" type="slidenum">
              <a:rPr lang="en-US" smtClean="0"/>
              <a:t>‹#›</a:t>
            </a:fld>
            <a:endParaRPr lang="en-US"/>
          </a:p>
        </p:txBody>
      </p:sp>
    </p:spTree>
    <p:extLst>
      <p:ext uri="{BB962C8B-B14F-4D97-AF65-F5344CB8AC3E}">
        <p14:creationId xmlns:p14="http://schemas.microsoft.com/office/powerpoint/2010/main" val="3093065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5BB5680D-DCC3-483F-A128-6592337407B8}" type="datetimeFigureOut">
              <a:rPr lang="en-US" smtClean="0"/>
              <a:t>7/17/2026</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63231BE5-4A07-4943-BAFD-7D5ECC9A7001}" type="slidenum">
              <a:rPr lang="en-US" smtClean="0"/>
              <a:t>‹#›</a:t>
            </a:fld>
            <a:endParaRPr lang="en-US"/>
          </a:p>
        </p:txBody>
      </p:sp>
    </p:spTree>
    <p:extLst>
      <p:ext uri="{BB962C8B-B14F-4D97-AF65-F5344CB8AC3E}">
        <p14:creationId xmlns:p14="http://schemas.microsoft.com/office/powerpoint/2010/main" val="382081346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B5680D-DCC3-483F-A128-6592337407B8}"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231BE5-4A07-4943-BAFD-7D5ECC9A7001}" type="slidenum">
              <a:rPr lang="en-US" smtClean="0"/>
              <a:t>‹#›</a:t>
            </a:fld>
            <a:endParaRPr lang="en-US"/>
          </a:p>
        </p:txBody>
      </p:sp>
    </p:spTree>
    <p:extLst>
      <p:ext uri="{BB962C8B-B14F-4D97-AF65-F5344CB8AC3E}">
        <p14:creationId xmlns:p14="http://schemas.microsoft.com/office/powerpoint/2010/main" val="2295490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B5680D-DCC3-483F-A128-6592337407B8}"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231BE5-4A07-4943-BAFD-7D5ECC9A7001}" type="slidenum">
              <a:rPr lang="en-US" smtClean="0"/>
              <a:t>‹#›</a:t>
            </a:fld>
            <a:endParaRPr lang="en-US"/>
          </a:p>
        </p:txBody>
      </p:sp>
    </p:spTree>
    <p:extLst>
      <p:ext uri="{BB962C8B-B14F-4D97-AF65-F5344CB8AC3E}">
        <p14:creationId xmlns:p14="http://schemas.microsoft.com/office/powerpoint/2010/main" val="1382342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B5680D-DCC3-483F-A128-6592337407B8}"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231BE5-4A07-4943-BAFD-7D5ECC9A7001}" type="slidenum">
              <a:rPr lang="en-US" smtClean="0"/>
              <a:t>‹#›</a:t>
            </a:fld>
            <a:endParaRPr lang="en-US"/>
          </a:p>
        </p:txBody>
      </p:sp>
    </p:spTree>
    <p:extLst>
      <p:ext uri="{BB962C8B-B14F-4D97-AF65-F5344CB8AC3E}">
        <p14:creationId xmlns:p14="http://schemas.microsoft.com/office/powerpoint/2010/main" val="179362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B5680D-DCC3-483F-A128-6592337407B8}"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231BE5-4A07-4943-BAFD-7D5ECC9A7001}" type="slidenum">
              <a:rPr lang="en-US" smtClean="0"/>
              <a:t>‹#›</a:t>
            </a:fld>
            <a:endParaRPr lang="en-US"/>
          </a:p>
        </p:txBody>
      </p:sp>
    </p:spTree>
    <p:extLst>
      <p:ext uri="{BB962C8B-B14F-4D97-AF65-F5344CB8AC3E}">
        <p14:creationId xmlns:p14="http://schemas.microsoft.com/office/powerpoint/2010/main" val="783296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BB5680D-DCC3-483F-A128-6592337407B8}" type="datetimeFigureOut">
              <a:rPr lang="en-US" smtClean="0"/>
              <a:t>7/17/2026</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63231BE5-4A07-4943-BAFD-7D5ECC9A7001}"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98767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5BB5680D-DCC3-483F-A128-6592337407B8}" type="datetimeFigureOut">
              <a:rPr lang="en-US" smtClean="0"/>
              <a:t>7/17/2026</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63231BE5-4A07-4943-BAFD-7D5ECC9A7001}"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69186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B5680D-DCC3-483F-A128-6592337407B8}"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231BE5-4A07-4943-BAFD-7D5ECC9A7001}" type="slidenum">
              <a:rPr lang="en-US" smtClean="0"/>
              <a:t>‹#›</a:t>
            </a:fld>
            <a:endParaRPr lang="en-US"/>
          </a:p>
        </p:txBody>
      </p:sp>
    </p:spTree>
    <p:extLst>
      <p:ext uri="{BB962C8B-B14F-4D97-AF65-F5344CB8AC3E}">
        <p14:creationId xmlns:p14="http://schemas.microsoft.com/office/powerpoint/2010/main" val="3236826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B5680D-DCC3-483F-A128-6592337407B8}"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231BE5-4A07-4943-BAFD-7D5ECC9A7001}" type="slidenum">
              <a:rPr lang="en-US" smtClean="0"/>
              <a:t>‹#›</a:t>
            </a:fld>
            <a:endParaRPr lang="en-US"/>
          </a:p>
        </p:txBody>
      </p:sp>
    </p:spTree>
    <p:extLst>
      <p:ext uri="{BB962C8B-B14F-4D97-AF65-F5344CB8AC3E}">
        <p14:creationId xmlns:p14="http://schemas.microsoft.com/office/powerpoint/2010/main" val="765101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5BB5680D-DCC3-483F-A128-6592337407B8}" type="datetimeFigureOut">
              <a:rPr lang="en-US" smtClean="0"/>
              <a:t>7/17/2026</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63231BE5-4A07-4943-BAFD-7D5ECC9A7001}" type="slidenum">
              <a:rPr lang="en-US" smtClean="0"/>
              <a:t>‹#›</a:t>
            </a:fld>
            <a:endParaRPr lang="en-US"/>
          </a:p>
        </p:txBody>
      </p:sp>
    </p:spTree>
    <p:extLst>
      <p:ext uri="{BB962C8B-B14F-4D97-AF65-F5344CB8AC3E}">
        <p14:creationId xmlns:p14="http://schemas.microsoft.com/office/powerpoint/2010/main" val="3581093343"/>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pixabay.com/images/search/thank%20you%20jesus/" TargetMode="External"/><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40631-0A63-F001-9321-8867DD578098}"/>
              </a:ext>
            </a:extLst>
          </p:cNvPr>
          <p:cNvSpPr>
            <a:spLocks noGrp="1"/>
          </p:cNvSpPr>
          <p:nvPr>
            <p:ph type="ctrTitle"/>
          </p:nvPr>
        </p:nvSpPr>
        <p:spPr>
          <a:xfrm>
            <a:off x="1561708" y="2332653"/>
            <a:ext cx="9068586" cy="951723"/>
          </a:xfrm>
        </p:spPr>
        <p:txBody>
          <a:bodyPr>
            <a:normAutofit fontScale="90000"/>
          </a:bodyPr>
          <a:lstStyle/>
          <a:p>
            <a:r>
              <a:rPr lang="en-US" sz="3600" dirty="0"/>
              <a:t>A Behavioral Finance Framework for Mindful Digital Spending</a:t>
            </a:r>
            <a:br>
              <a:rPr lang="en-US" sz="3600" dirty="0"/>
            </a:br>
            <a:endParaRPr lang="en-US" sz="3600" dirty="0"/>
          </a:p>
        </p:txBody>
      </p:sp>
      <p:sp>
        <p:nvSpPr>
          <p:cNvPr id="3" name="Subtitle 2">
            <a:extLst>
              <a:ext uri="{FF2B5EF4-FFF2-40B4-BE49-F238E27FC236}">
                <a16:creationId xmlns:a16="http://schemas.microsoft.com/office/drawing/2014/main" id="{EC347814-9C13-FE10-41BC-CE1EFF1C39FF}"/>
              </a:ext>
            </a:extLst>
          </p:cNvPr>
          <p:cNvSpPr>
            <a:spLocks noGrp="1"/>
          </p:cNvSpPr>
          <p:nvPr>
            <p:ph type="subTitle" idx="1"/>
          </p:nvPr>
        </p:nvSpPr>
        <p:spPr>
          <a:xfrm>
            <a:off x="1436913" y="3284376"/>
            <a:ext cx="9339943" cy="2153898"/>
          </a:xfrm>
        </p:spPr>
        <p:txBody>
          <a:bodyPr>
            <a:normAutofit/>
          </a:bodyPr>
          <a:lstStyle/>
          <a:p>
            <a:r>
              <a:rPr lang="en-US" b="1" dirty="0"/>
              <a:t>Beyond the Tap: Understanding Digital Spending Behavior and Promoting Mindful Financial Decision-Making</a:t>
            </a:r>
          </a:p>
          <a:p>
            <a:endParaRPr lang="en-US" b="1" dirty="0"/>
          </a:p>
          <a:p>
            <a:pPr algn="r"/>
            <a:r>
              <a:rPr lang="en-US" dirty="0"/>
              <a:t>Capstone Project Report</a:t>
            </a:r>
          </a:p>
          <a:p>
            <a:pPr algn="r"/>
            <a:r>
              <a:rPr lang="en-US" dirty="0"/>
              <a:t>Mudrika Mishra</a:t>
            </a:r>
          </a:p>
          <a:p>
            <a:pPr algn="r"/>
            <a:r>
              <a:rPr lang="en-US" dirty="0"/>
              <a:t>PGDM (Online)</a:t>
            </a:r>
          </a:p>
          <a:p>
            <a:pPr algn="r"/>
            <a:r>
              <a:rPr lang="en-US" dirty="0"/>
              <a:t>Jaipuria Institute of Management</a:t>
            </a:r>
          </a:p>
          <a:p>
            <a:pPr algn="r"/>
            <a:r>
              <a:rPr lang="en-US" dirty="0"/>
              <a:t>Batch: 2024-2026</a:t>
            </a:r>
          </a:p>
          <a:p>
            <a:endParaRPr lang="en-US" dirty="0"/>
          </a:p>
          <a:p>
            <a:endParaRPr lang="en-US" dirty="0"/>
          </a:p>
        </p:txBody>
      </p:sp>
      <p:pic>
        <p:nvPicPr>
          <p:cNvPr id="5" name="Picture 4">
            <a:extLst>
              <a:ext uri="{FF2B5EF4-FFF2-40B4-BE49-F238E27FC236}">
                <a16:creationId xmlns:a16="http://schemas.microsoft.com/office/drawing/2014/main" id="{61296A41-484E-5A85-9523-B25C12C0FEB7}"/>
              </a:ext>
            </a:extLst>
          </p:cNvPr>
          <p:cNvPicPr>
            <a:picLocks noChangeAspect="1"/>
          </p:cNvPicPr>
          <p:nvPr/>
        </p:nvPicPr>
        <p:blipFill>
          <a:blip r:embed="rId3"/>
          <a:stretch>
            <a:fillRect/>
          </a:stretch>
        </p:blipFill>
        <p:spPr>
          <a:xfrm>
            <a:off x="1561708" y="3905060"/>
            <a:ext cx="1752845" cy="1343212"/>
          </a:xfrm>
          <a:prstGeom prst="rect">
            <a:avLst/>
          </a:prstGeom>
        </p:spPr>
      </p:pic>
      <p:pic>
        <p:nvPicPr>
          <p:cNvPr id="7" name="Picture 6">
            <a:extLst>
              <a:ext uri="{FF2B5EF4-FFF2-40B4-BE49-F238E27FC236}">
                <a16:creationId xmlns:a16="http://schemas.microsoft.com/office/drawing/2014/main" id="{D86A3893-066F-786B-6E4B-5CCBB3945AC4}"/>
              </a:ext>
            </a:extLst>
          </p:cNvPr>
          <p:cNvPicPr>
            <a:picLocks noChangeAspect="1"/>
          </p:cNvPicPr>
          <p:nvPr/>
        </p:nvPicPr>
        <p:blipFill>
          <a:blip r:embed="rId4"/>
          <a:stretch>
            <a:fillRect/>
          </a:stretch>
        </p:blipFill>
        <p:spPr>
          <a:xfrm>
            <a:off x="9274629" y="1419726"/>
            <a:ext cx="1355665" cy="684128"/>
          </a:xfrm>
          <a:prstGeom prst="rect">
            <a:avLst/>
          </a:prstGeom>
        </p:spPr>
      </p:pic>
    </p:spTree>
    <p:extLst>
      <p:ext uri="{BB962C8B-B14F-4D97-AF65-F5344CB8AC3E}">
        <p14:creationId xmlns:p14="http://schemas.microsoft.com/office/powerpoint/2010/main" val="322847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BC6A9-43BE-0942-686B-D6E1B212E0BA}"/>
              </a:ext>
            </a:extLst>
          </p:cNvPr>
          <p:cNvSpPr>
            <a:spLocks noGrp="1"/>
          </p:cNvSpPr>
          <p:nvPr>
            <p:ph type="title"/>
          </p:nvPr>
        </p:nvSpPr>
        <p:spPr/>
        <p:txBody>
          <a:bodyPr/>
          <a:lstStyle/>
          <a:p>
            <a:r>
              <a:rPr lang="en-US" dirty="0"/>
              <a:t>Business Background</a:t>
            </a:r>
          </a:p>
        </p:txBody>
      </p:sp>
      <p:sp>
        <p:nvSpPr>
          <p:cNvPr id="3" name="Content Placeholder 2">
            <a:extLst>
              <a:ext uri="{FF2B5EF4-FFF2-40B4-BE49-F238E27FC236}">
                <a16:creationId xmlns:a16="http://schemas.microsoft.com/office/drawing/2014/main" id="{1091FD91-F1BC-3E56-EDB8-B22C422C683B}"/>
              </a:ext>
            </a:extLst>
          </p:cNvPr>
          <p:cNvSpPr>
            <a:spLocks noGrp="1"/>
          </p:cNvSpPr>
          <p:nvPr>
            <p:ph idx="1"/>
          </p:nvPr>
        </p:nvSpPr>
        <p:spPr>
          <a:xfrm>
            <a:off x="1066800" y="2103120"/>
            <a:ext cx="10058400" cy="4112286"/>
          </a:xfrm>
        </p:spPr>
        <p:txBody>
          <a:bodyPr>
            <a:normAutofit fontScale="92500" lnSpcReduction="10000"/>
          </a:bodyPr>
          <a:lstStyle/>
          <a:p>
            <a:pPr marL="0" indent="0">
              <a:buNone/>
            </a:pPr>
            <a:r>
              <a:rPr lang="en-US" b="1" dirty="0"/>
              <a:t>Rapid Growth of Digital Payments</a:t>
            </a:r>
          </a:p>
          <a:p>
            <a:r>
              <a:rPr lang="en-US" dirty="0"/>
              <a:t>India has witnessed massive growth in UPI-based transactions through platforms like Google Pay, PhonePe, and Paytm.</a:t>
            </a:r>
          </a:p>
          <a:p>
            <a:r>
              <a:rPr lang="en-US" dirty="0"/>
              <a:t>Digital payments have made financial transactions faster, easier, and more accessible.</a:t>
            </a:r>
          </a:p>
          <a:p>
            <a:pPr marL="0" indent="0">
              <a:buNone/>
            </a:pPr>
            <a:r>
              <a:rPr lang="en-US" b="1" dirty="0"/>
              <a:t>Changing consumer spending behavior</a:t>
            </a:r>
          </a:p>
          <a:p>
            <a:r>
              <a:rPr lang="en-US" dirty="0"/>
              <a:t>Convenience and one-click transactions have increased the frequency of digital spending.</a:t>
            </a:r>
          </a:p>
          <a:p>
            <a:r>
              <a:rPr lang="en-US" dirty="0"/>
              <a:t>Small daily expenses often go unnoticed, reducing awareness of total spending.</a:t>
            </a:r>
          </a:p>
          <a:p>
            <a:pPr marL="0" indent="0">
              <a:buNone/>
            </a:pPr>
            <a:r>
              <a:rPr lang="en-US" b="1" dirty="0"/>
              <a:t>Why this issue matters</a:t>
            </a:r>
          </a:p>
          <a:p>
            <a:r>
              <a:rPr lang="en-US" dirty="0"/>
              <a:t>Increasing impulsive spending behavior affects financial discipline and saving habits.</a:t>
            </a:r>
          </a:p>
          <a:p>
            <a:r>
              <a:rPr lang="en-US" dirty="0"/>
              <a:t>Fintech platforms currently prioritize convenience more than mindful financial behavior.</a:t>
            </a:r>
          </a:p>
          <a:p>
            <a:r>
              <a:rPr lang="en-US" dirty="0"/>
              <a:t>Understanding behavioral patterns is important for creating financially aware digital ecosystems.</a:t>
            </a:r>
          </a:p>
          <a:p>
            <a:endParaRPr lang="en-US" dirty="0"/>
          </a:p>
        </p:txBody>
      </p:sp>
      <p:pic>
        <p:nvPicPr>
          <p:cNvPr id="7" name="Picture 6">
            <a:extLst>
              <a:ext uri="{FF2B5EF4-FFF2-40B4-BE49-F238E27FC236}">
                <a16:creationId xmlns:a16="http://schemas.microsoft.com/office/drawing/2014/main" id="{77A17327-1448-3294-BDEF-213BC1D0993D}"/>
              </a:ext>
            </a:extLst>
          </p:cNvPr>
          <p:cNvPicPr>
            <a:picLocks noChangeAspect="1"/>
          </p:cNvPicPr>
          <p:nvPr/>
        </p:nvPicPr>
        <p:blipFill>
          <a:blip r:embed="rId3"/>
          <a:stretch>
            <a:fillRect/>
          </a:stretch>
        </p:blipFill>
        <p:spPr>
          <a:xfrm>
            <a:off x="8889377" y="642594"/>
            <a:ext cx="1654215" cy="1270182"/>
          </a:xfrm>
          <a:prstGeom prst="rect">
            <a:avLst/>
          </a:prstGeom>
        </p:spPr>
      </p:pic>
    </p:spTree>
    <p:extLst>
      <p:ext uri="{BB962C8B-B14F-4D97-AF65-F5344CB8AC3E}">
        <p14:creationId xmlns:p14="http://schemas.microsoft.com/office/powerpoint/2010/main" val="2460933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01C4B-9639-82C3-D1C5-98EB0B8020C3}"/>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FAE68EC6-0E8B-6CD5-3197-A2B7A4ECE9C1}"/>
              </a:ext>
            </a:extLst>
          </p:cNvPr>
          <p:cNvSpPr>
            <a:spLocks noGrp="1"/>
          </p:cNvSpPr>
          <p:nvPr>
            <p:ph idx="1"/>
          </p:nvPr>
        </p:nvSpPr>
        <p:spPr/>
        <p:txBody>
          <a:bodyPr>
            <a:normAutofit fontScale="92500" lnSpcReduction="20000"/>
          </a:bodyPr>
          <a:lstStyle/>
          <a:p>
            <a:pPr marL="0" indent="0">
              <a:buNone/>
            </a:pPr>
            <a:r>
              <a:rPr lang="en-US" b="1" dirty="0"/>
              <a:t>The Core Problem</a:t>
            </a:r>
          </a:p>
          <a:p>
            <a:r>
              <a:rPr lang="en-US" dirty="0"/>
              <a:t>Digital payment systems have reduced the psychological awareness associated with spending money.</a:t>
            </a:r>
          </a:p>
          <a:p>
            <a:r>
              <a:rPr lang="en-US" dirty="0"/>
              <a:t>Instant and frictionless transactions often encourage impulsive and emotionally driven purchases.</a:t>
            </a:r>
          </a:p>
          <a:p>
            <a:pPr marL="0" indent="0">
              <a:buNone/>
            </a:pPr>
            <a:r>
              <a:rPr lang="en-US" b="1" dirty="0"/>
              <a:t>Current Behavioral Concerns</a:t>
            </a:r>
          </a:p>
          <a:p>
            <a:r>
              <a:rPr lang="en-US" dirty="0"/>
              <a:t>Reduced “pain of paying” in digital transactions.</a:t>
            </a:r>
          </a:p>
          <a:p>
            <a:r>
              <a:rPr lang="en-US" dirty="0"/>
              <a:t>Increasing habit of unplanned micro-spending.</a:t>
            </a:r>
          </a:p>
          <a:p>
            <a:r>
              <a:rPr lang="en-US" dirty="0"/>
              <a:t>Limited financial awareness despite high digital payment usage.</a:t>
            </a:r>
          </a:p>
          <a:p>
            <a:pPr marL="0" indent="0">
              <a:buNone/>
            </a:pPr>
            <a:r>
              <a:rPr lang="en-US" b="1" dirty="0"/>
              <a:t>Existing Gap in Fintech Platforms</a:t>
            </a:r>
          </a:p>
          <a:p>
            <a:r>
              <a:rPr lang="en-US" dirty="0"/>
              <a:t>Most digital payment applications focus on  transaction speed and convenience.</a:t>
            </a:r>
          </a:p>
          <a:p>
            <a:r>
              <a:rPr lang="en-US" dirty="0"/>
              <a:t>Limited features exist for mindful spending, spending awareness, or behavioral financial guidance.</a:t>
            </a:r>
          </a:p>
          <a:p>
            <a:endParaRPr lang="en-US" dirty="0"/>
          </a:p>
        </p:txBody>
      </p:sp>
      <p:pic>
        <p:nvPicPr>
          <p:cNvPr id="4" name="Picture 3">
            <a:extLst>
              <a:ext uri="{FF2B5EF4-FFF2-40B4-BE49-F238E27FC236}">
                <a16:creationId xmlns:a16="http://schemas.microsoft.com/office/drawing/2014/main" id="{ADB0FC2A-7F83-A94E-0FD3-33274D72ABD0}"/>
              </a:ext>
            </a:extLst>
          </p:cNvPr>
          <p:cNvPicPr>
            <a:picLocks noChangeAspect="1"/>
          </p:cNvPicPr>
          <p:nvPr/>
        </p:nvPicPr>
        <p:blipFill>
          <a:blip r:embed="rId3"/>
          <a:stretch>
            <a:fillRect/>
          </a:stretch>
        </p:blipFill>
        <p:spPr>
          <a:xfrm>
            <a:off x="8080311" y="559837"/>
            <a:ext cx="2677886" cy="1716831"/>
          </a:xfrm>
          <a:prstGeom prst="rect">
            <a:avLst/>
          </a:prstGeom>
        </p:spPr>
      </p:pic>
    </p:spTree>
    <p:extLst>
      <p:ext uri="{BB962C8B-B14F-4D97-AF65-F5344CB8AC3E}">
        <p14:creationId xmlns:p14="http://schemas.microsoft.com/office/powerpoint/2010/main" val="1383251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AAE17-5713-F1D1-128C-4C0CEA45B710}"/>
              </a:ext>
            </a:extLst>
          </p:cNvPr>
          <p:cNvSpPr>
            <a:spLocks noGrp="1"/>
          </p:cNvSpPr>
          <p:nvPr>
            <p:ph type="title"/>
          </p:nvPr>
        </p:nvSpPr>
        <p:spPr>
          <a:xfrm>
            <a:off x="1066800" y="642594"/>
            <a:ext cx="10058400" cy="865925"/>
          </a:xfrm>
        </p:spPr>
        <p:txBody>
          <a:bodyPr>
            <a:normAutofit fontScale="90000"/>
          </a:bodyPr>
          <a:lstStyle/>
          <a:p>
            <a:r>
              <a:rPr lang="en-US" dirty="0"/>
              <a:t>Current Digital Spending Framework</a:t>
            </a:r>
          </a:p>
        </p:txBody>
      </p:sp>
      <p:sp>
        <p:nvSpPr>
          <p:cNvPr id="3" name="Content Placeholder 2">
            <a:extLst>
              <a:ext uri="{FF2B5EF4-FFF2-40B4-BE49-F238E27FC236}">
                <a16:creationId xmlns:a16="http://schemas.microsoft.com/office/drawing/2014/main" id="{B576C8FB-1EE3-4E67-AA4A-6B1ABA120074}"/>
              </a:ext>
            </a:extLst>
          </p:cNvPr>
          <p:cNvSpPr>
            <a:spLocks noGrp="1"/>
          </p:cNvSpPr>
          <p:nvPr>
            <p:ph idx="1"/>
          </p:nvPr>
        </p:nvSpPr>
        <p:spPr>
          <a:xfrm>
            <a:off x="1066800" y="1811808"/>
            <a:ext cx="10058400" cy="4359155"/>
          </a:xfrm>
        </p:spPr>
        <p:txBody>
          <a:bodyPr>
            <a:normAutofit fontScale="85000" lnSpcReduction="20000"/>
          </a:bodyPr>
          <a:lstStyle/>
          <a:p>
            <a:r>
              <a:rPr lang="en-US" dirty="0"/>
              <a:t>STEP 1</a:t>
            </a:r>
          </a:p>
          <a:p>
            <a:pPr marL="0" indent="0">
              <a:buNone/>
            </a:pPr>
            <a:r>
              <a:rPr lang="en-US" b="1" dirty="0"/>
              <a:t>User opens digital payment app                                                                                                                                    </a:t>
            </a:r>
          </a:p>
          <a:p>
            <a:pPr marL="0" indent="0">
              <a:buNone/>
            </a:pPr>
            <a:r>
              <a:rPr lang="en-US" b="1" dirty="0"/>
              <a:t>                                                                                                                 </a:t>
            </a:r>
            <a:endParaRPr lang="en-US" dirty="0"/>
          </a:p>
          <a:p>
            <a:r>
              <a:rPr lang="en-US" dirty="0"/>
              <a:t>STEP 2 </a:t>
            </a:r>
          </a:p>
          <a:p>
            <a:pPr marL="0" indent="0">
              <a:buNone/>
            </a:pPr>
            <a:r>
              <a:rPr lang="en-US" b="1" dirty="0"/>
              <a:t>Instant payment completed within seconds</a:t>
            </a:r>
          </a:p>
          <a:p>
            <a:endParaRPr lang="en-US" b="1" dirty="0"/>
          </a:p>
          <a:p>
            <a:r>
              <a:rPr lang="en-US" dirty="0"/>
              <a:t>STEP 3 </a:t>
            </a:r>
          </a:p>
          <a:p>
            <a:pPr marL="0" indent="0">
              <a:buNone/>
            </a:pPr>
            <a:r>
              <a:rPr lang="en-US" b="1" dirty="0"/>
              <a:t>Minimal psychological awareness</a:t>
            </a:r>
          </a:p>
          <a:p>
            <a:endParaRPr lang="en-US" b="1" dirty="0"/>
          </a:p>
          <a:p>
            <a:r>
              <a:rPr lang="en-US" dirty="0"/>
              <a:t>STEP 4 </a:t>
            </a:r>
          </a:p>
          <a:p>
            <a:pPr marL="0" indent="0">
              <a:buNone/>
            </a:pPr>
            <a:r>
              <a:rPr lang="en-US" b="1" dirty="0"/>
              <a:t>Repeated small transaction accumulate over time</a:t>
            </a:r>
          </a:p>
          <a:p>
            <a:endParaRPr lang="en-US" dirty="0"/>
          </a:p>
          <a:p>
            <a:r>
              <a:rPr lang="en-US" dirty="0"/>
              <a:t>STEP 5</a:t>
            </a:r>
          </a:p>
          <a:p>
            <a:pPr marL="0" indent="0">
              <a:buNone/>
            </a:pPr>
            <a:r>
              <a:rPr lang="en-US" b="1" dirty="0"/>
              <a:t>Impulsive spending and reduced financial discipline</a:t>
            </a:r>
            <a:r>
              <a:rPr lang="en-US" dirty="0"/>
              <a:t>.</a:t>
            </a:r>
          </a:p>
          <a:p>
            <a:endParaRPr lang="en-US" dirty="0"/>
          </a:p>
        </p:txBody>
      </p:sp>
      <p:sp>
        <p:nvSpPr>
          <p:cNvPr id="4" name="Arrow: Down 3">
            <a:extLst>
              <a:ext uri="{FF2B5EF4-FFF2-40B4-BE49-F238E27FC236}">
                <a16:creationId xmlns:a16="http://schemas.microsoft.com/office/drawing/2014/main" id="{3276EA96-514C-6965-7560-E75D4CE7BF1A}"/>
              </a:ext>
            </a:extLst>
          </p:cNvPr>
          <p:cNvSpPr/>
          <p:nvPr/>
        </p:nvSpPr>
        <p:spPr>
          <a:xfrm>
            <a:off x="1558216" y="2375476"/>
            <a:ext cx="130628" cy="1399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Down 4">
            <a:extLst>
              <a:ext uri="{FF2B5EF4-FFF2-40B4-BE49-F238E27FC236}">
                <a16:creationId xmlns:a16="http://schemas.microsoft.com/office/drawing/2014/main" id="{2FCB8383-A594-A6D8-70EF-A4387D78BC19}"/>
              </a:ext>
            </a:extLst>
          </p:cNvPr>
          <p:cNvSpPr/>
          <p:nvPr/>
        </p:nvSpPr>
        <p:spPr>
          <a:xfrm>
            <a:off x="1539553" y="3359020"/>
            <a:ext cx="130628" cy="1399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6ADAC016-FE79-9BC7-EE68-5BC33EC58CC8}"/>
              </a:ext>
            </a:extLst>
          </p:cNvPr>
          <p:cNvSpPr/>
          <p:nvPr/>
        </p:nvSpPr>
        <p:spPr>
          <a:xfrm>
            <a:off x="1539555" y="4212251"/>
            <a:ext cx="130628" cy="1399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4DE12D17-AAB6-ED05-F8EF-D8A9F7B089B3}"/>
              </a:ext>
            </a:extLst>
          </p:cNvPr>
          <p:cNvSpPr/>
          <p:nvPr/>
        </p:nvSpPr>
        <p:spPr>
          <a:xfrm>
            <a:off x="1539553" y="5147071"/>
            <a:ext cx="130628" cy="1399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F85EBBB-4F7A-3827-86D2-E073C4265312}"/>
              </a:ext>
            </a:extLst>
          </p:cNvPr>
          <p:cNvPicPr>
            <a:picLocks noChangeAspect="1"/>
          </p:cNvPicPr>
          <p:nvPr/>
        </p:nvPicPr>
        <p:blipFill>
          <a:blip r:embed="rId3"/>
          <a:stretch>
            <a:fillRect/>
          </a:stretch>
        </p:blipFill>
        <p:spPr>
          <a:xfrm>
            <a:off x="7660434" y="2118049"/>
            <a:ext cx="3234564" cy="2397967"/>
          </a:xfrm>
          <a:prstGeom prst="rect">
            <a:avLst/>
          </a:prstGeom>
        </p:spPr>
      </p:pic>
    </p:spTree>
    <p:extLst>
      <p:ext uri="{BB962C8B-B14F-4D97-AF65-F5344CB8AC3E}">
        <p14:creationId xmlns:p14="http://schemas.microsoft.com/office/powerpoint/2010/main" val="462065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4358E-01C4-099B-E5CB-874F5D1ABB6D}"/>
              </a:ext>
            </a:extLst>
          </p:cNvPr>
          <p:cNvSpPr>
            <a:spLocks noGrp="1"/>
          </p:cNvSpPr>
          <p:nvPr>
            <p:ph type="title"/>
          </p:nvPr>
        </p:nvSpPr>
        <p:spPr/>
        <p:txBody>
          <a:bodyPr/>
          <a:lstStyle/>
          <a:p>
            <a:r>
              <a:rPr lang="en-US" dirty="0"/>
              <a:t>Analytical Framework Used</a:t>
            </a:r>
          </a:p>
        </p:txBody>
      </p:sp>
      <p:sp>
        <p:nvSpPr>
          <p:cNvPr id="3" name="Content Placeholder 2">
            <a:extLst>
              <a:ext uri="{FF2B5EF4-FFF2-40B4-BE49-F238E27FC236}">
                <a16:creationId xmlns:a16="http://schemas.microsoft.com/office/drawing/2014/main" id="{011EC82D-DB1E-AFD8-2ADB-6AD0AAA8370D}"/>
              </a:ext>
            </a:extLst>
          </p:cNvPr>
          <p:cNvSpPr>
            <a:spLocks noGrp="1"/>
          </p:cNvSpPr>
          <p:nvPr>
            <p:ph idx="1"/>
          </p:nvPr>
        </p:nvSpPr>
        <p:spPr/>
        <p:txBody>
          <a:bodyPr>
            <a:normAutofit fontScale="62500" lnSpcReduction="20000"/>
          </a:bodyPr>
          <a:lstStyle/>
          <a:p>
            <a:pPr marL="0" indent="0">
              <a:buNone/>
            </a:pPr>
            <a:r>
              <a:rPr lang="en-US" b="1" dirty="0"/>
              <a:t>Behavioral Finance Concepts</a:t>
            </a:r>
          </a:p>
          <a:p>
            <a:r>
              <a:rPr lang="en-US" dirty="0"/>
              <a:t>Pain of paying theory</a:t>
            </a:r>
          </a:p>
          <a:p>
            <a:r>
              <a:rPr lang="en-US" dirty="0"/>
              <a:t>Impulsive spending behavior</a:t>
            </a:r>
          </a:p>
          <a:p>
            <a:r>
              <a:rPr lang="en-US" dirty="0"/>
              <a:t>Consumer spending psychology</a:t>
            </a:r>
          </a:p>
          <a:p>
            <a:r>
              <a:rPr lang="en-US" dirty="0"/>
              <a:t>Financial awareness</a:t>
            </a:r>
          </a:p>
          <a:p>
            <a:pPr marL="0" indent="0">
              <a:buNone/>
            </a:pPr>
            <a:r>
              <a:rPr lang="en-US" b="1" dirty="0"/>
              <a:t>Analytical Methods used</a:t>
            </a:r>
          </a:p>
          <a:p>
            <a:r>
              <a:rPr lang="en-US" dirty="0"/>
              <a:t>Survey-based Analysis</a:t>
            </a:r>
          </a:p>
          <a:p>
            <a:r>
              <a:rPr lang="en-US" dirty="0"/>
              <a:t>Correlation Analysis</a:t>
            </a:r>
          </a:p>
          <a:p>
            <a:r>
              <a:rPr lang="en-US" dirty="0"/>
              <a:t>Regression Analysis</a:t>
            </a:r>
          </a:p>
          <a:p>
            <a:r>
              <a:rPr lang="en-US" dirty="0"/>
              <a:t>Data Visualization</a:t>
            </a:r>
          </a:p>
          <a:p>
            <a:pPr marL="0" indent="0">
              <a:buNone/>
            </a:pPr>
            <a:r>
              <a:rPr lang="en-US" b="1" dirty="0"/>
              <a:t>Purpose of framework</a:t>
            </a:r>
          </a:p>
          <a:p>
            <a:r>
              <a:rPr lang="en-US" dirty="0"/>
              <a:t>To understand Digital Spending Behavior</a:t>
            </a:r>
          </a:p>
          <a:p>
            <a:r>
              <a:rPr lang="en-US" dirty="0"/>
              <a:t>To Analyze Financial Awareness Patterns</a:t>
            </a:r>
          </a:p>
          <a:p>
            <a:r>
              <a:rPr lang="en-US" dirty="0"/>
              <a:t>To identify Impulsive Spending Trends</a:t>
            </a:r>
          </a:p>
          <a:p>
            <a:r>
              <a:rPr lang="en-US" dirty="0"/>
              <a:t>To support the AspiraFi Framework</a:t>
            </a:r>
          </a:p>
        </p:txBody>
      </p:sp>
      <p:pic>
        <p:nvPicPr>
          <p:cNvPr id="5" name="Picture 4">
            <a:extLst>
              <a:ext uri="{FF2B5EF4-FFF2-40B4-BE49-F238E27FC236}">
                <a16:creationId xmlns:a16="http://schemas.microsoft.com/office/drawing/2014/main" id="{74D67F2B-22FB-8538-2A28-8D43E12CD832}"/>
              </a:ext>
            </a:extLst>
          </p:cNvPr>
          <p:cNvPicPr>
            <a:picLocks noChangeAspect="1"/>
          </p:cNvPicPr>
          <p:nvPr/>
        </p:nvPicPr>
        <p:blipFill>
          <a:blip r:embed="rId3"/>
          <a:stretch>
            <a:fillRect/>
          </a:stretch>
        </p:blipFill>
        <p:spPr>
          <a:xfrm>
            <a:off x="6979298" y="2914578"/>
            <a:ext cx="3321697" cy="2329226"/>
          </a:xfrm>
          <a:prstGeom prst="rect">
            <a:avLst/>
          </a:prstGeom>
        </p:spPr>
      </p:pic>
    </p:spTree>
    <p:extLst>
      <p:ext uri="{BB962C8B-B14F-4D97-AF65-F5344CB8AC3E}">
        <p14:creationId xmlns:p14="http://schemas.microsoft.com/office/powerpoint/2010/main" val="204143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E725E-5A14-37C1-6599-3EC51E3C0A9D}"/>
              </a:ext>
            </a:extLst>
          </p:cNvPr>
          <p:cNvSpPr>
            <a:spLocks noGrp="1"/>
          </p:cNvSpPr>
          <p:nvPr>
            <p:ph type="title"/>
          </p:nvPr>
        </p:nvSpPr>
        <p:spPr/>
        <p:txBody>
          <a:bodyPr/>
          <a:lstStyle/>
          <a:p>
            <a:r>
              <a:rPr lang="en-US" dirty="0"/>
              <a:t>Data and Inputs</a:t>
            </a:r>
          </a:p>
        </p:txBody>
      </p:sp>
      <p:sp>
        <p:nvSpPr>
          <p:cNvPr id="3" name="Content Placeholder 2">
            <a:extLst>
              <a:ext uri="{FF2B5EF4-FFF2-40B4-BE49-F238E27FC236}">
                <a16:creationId xmlns:a16="http://schemas.microsoft.com/office/drawing/2014/main" id="{A876A87E-00F1-9A49-C578-30DF00603393}"/>
              </a:ext>
            </a:extLst>
          </p:cNvPr>
          <p:cNvSpPr>
            <a:spLocks noGrp="1"/>
          </p:cNvSpPr>
          <p:nvPr>
            <p:ph idx="1"/>
          </p:nvPr>
        </p:nvSpPr>
        <p:spPr>
          <a:xfrm>
            <a:off x="1066800" y="1642187"/>
            <a:ext cx="10058400" cy="4711959"/>
          </a:xfrm>
        </p:spPr>
        <p:txBody>
          <a:bodyPr>
            <a:normAutofit fontScale="70000" lnSpcReduction="20000"/>
          </a:bodyPr>
          <a:lstStyle/>
          <a:p>
            <a:pPr marL="0" indent="0">
              <a:buNone/>
            </a:pPr>
            <a:r>
              <a:rPr lang="en-US" b="1" dirty="0"/>
              <a:t>Primary Data Source</a:t>
            </a:r>
          </a:p>
          <a:p>
            <a:r>
              <a:rPr lang="en-US" dirty="0"/>
              <a:t>Online survey conducted using Google Forms</a:t>
            </a:r>
          </a:p>
          <a:p>
            <a:r>
              <a:rPr lang="en-US" dirty="0"/>
              <a:t>Responses collected from digitally active individuals.</a:t>
            </a:r>
          </a:p>
          <a:p>
            <a:pPr marL="0" indent="0">
              <a:buNone/>
            </a:pPr>
            <a:r>
              <a:rPr lang="en-US" b="1" dirty="0"/>
              <a:t>Secondary data sources</a:t>
            </a:r>
          </a:p>
          <a:p>
            <a:r>
              <a:rPr lang="en-US" dirty="0"/>
              <a:t>Research papers</a:t>
            </a:r>
          </a:p>
          <a:p>
            <a:r>
              <a:rPr lang="en-US" dirty="0"/>
              <a:t>Journals and articles</a:t>
            </a:r>
          </a:p>
          <a:p>
            <a:r>
              <a:rPr lang="en-US" dirty="0"/>
              <a:t>Behavioral finance studies and  digital payment reports</a:t>
            </a:r>
          </a:p>
          <a:p>
            <a:pPr marL="0" indent="0">
              <a:buNone/>
            </a:pPr>
            <a:r>
              <a:rPr lang="en-US" b="1" dirty="0"/>
              <a:t>Key variables studied</a:t>
            </a:r>
          </a:p>
          <a:p>
            <a:r>
              <a:rPr lang="en-US" dirty="0"/>
              <a:t>Digital payment usage</a:t>
            </a:r>
          </a:p>
          <a:p>
            <a:r>
              <a:rPr lang="en-US" dirty="0"/>
              <a:t>Spending frequency</a:t>
            </a:r>
          </a:p>
          <a:p>
            <a:r>
              <a:rPr lang="en-US" dirty="0"/>
              <a:t>Financial awareness</a:t>
            </a:r>
          </a:p>
          <a:p>
            <a:r>
              <a:rPr lang="en-US" dirty="0"/>
              <a:t>Impulsive spending behavior</a:t>
            </a:r>
          </a:p>
          <a:p>
            <a:r>
              <a:rPr lang="en-US" dirty="0"/>
              <a:t> Emotional spending triggers</a:t>
            </a:r>
          </a:p>
          <a:p>
            <a:pPr marL="0" indent="0">
              <a:buNone/>
            </a:pPr>
            <a:r>
              <a:rPr lang="en-US" b="1" dirty="0"/>
              <a:t>Limitations</a:t>
            </a:r>
          </a:p>
          <a:p>
            <a:r>
              <a:rPr lang="en-US" dirty="0"/>
              <a:t>Limited sample size</a:t>
            </a:r>
          </a:p>
          <a:p>
            <a:r>
              <a:rPr lang="en-US" dirty="0"/>
              <a:t> time constraints</a:t>
            </a:r>
          </a:p>
          <a:p>
            <a:r>
              <a:rPr lang="en-US" dirty="0"/>
              <a:t>Responses based on  personal behavior and opinions</a:t>
            </a:r>
          </a:p>
          <a:p>
            <a:endParaRPr lang="en-US" dirty="0"/>
          </a:p>
          <a:p>
            <a:endParaRPr lang="en-US" dirty="0"/>
          </a:p>
        </p:txBody>
      </p:sp>
      <p:pic>
        <p:nvPicPr>
          <p:cNvPr id="4" name="Picture 3">
            <a:extLst>
              <a:ext uri="{FF2B5EF4-FFF2-40B4-BE49-F238E27FC236}">
                <a16:creationId xmlns:a16="http://schemas.microsoft.com/office/drawing/2014/main" id="{E9BF61ED-2D90-5029-98BB-07F34BAEBDF9}"/>
              </a:ext>
            </a:extLst>
          </p:cNvPr>
          <p:cNvPicPr>
            <a:picLocks noChangeAspect="1"/>
          </p:cNvPicPr>
          <p:nvPr/>
        </p:nvPicPr>
        <p:blipFill>
          <a:blip r:embed="rId3"/>
          <a:stretch>
            <a:fillRect/>
          </a:stretch>
        </p:blipFill>
        <p:spPr>
          <a:xfrm>
            <a:off x="8714793" y="3354605"/>
            <a:ext cx="2957802" cy="2680435"/>
          </a:xfrm>
          <a:prstGeom prst="rect">
            <a:avLst/>
          </a:prstGeom>
        </p:spPr>
      </p:pic>
    </p:spTree>
    <p:extLst>
      <p:ext uri="{BB962C8B-B14F-4D97-AF65-F5344CB8AC3E}">
        <p14:creationId xmlns:p14="http://schemas.microsoft.com/office/powerpoint/2010/main" val="3510327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A1172-77D2-E8B5-4476-E26C975266FC}"/>
              </a:ext>
            </a:extLst>
          </p:cNvPr>
          <p:cNvSpPr>
            <a:spLocks noGrp="1"/>
          </p:cNvSpPr>
          <p:nvPr>
            <p:ph type="title"/>
          </p:nvPr>
        </p:nvSpPr>
        <p:spPr/>
        <p:txBody>
          <a:bodyPr/>
          <a:lstStyle/>
          <a:p>
            <a:r>
              <a:rPr lang="en-US" dirty="0"/>
              <a:t>Analysis output   </a:t>
            </a:r>
          </a:p>
        </p:txBody>
      </p:sp>
      <p:sp>
        <p:nvSpPr>
          <p:cNvPr id="3" name="Content Placeholder 2">
            <a:extLst>
              <a:ext uri="{FF2B5EF4-FFF2-40B4-BE49-F238E27FC236}">
                <a16:creationId xmlns:a16="http://schemas.microsoft.com/office/drawing/2014/main" id="{89D24664-E1D9-E033-7DCA-44CD4A95E7A9}"/>
              </a:ext>
            </a:extLst>
          </p:cNvPr>
          <p:cNvSpPr>
            <a:spLocks noGrp="1"/>
          </p:cNvSpPr>
          <p:nvPr>
            <p:ph idx="1"/>
          </p:nvPr>
        </p:nvSpPr>
        <p:spPr/>
        <p:txBody>
          <a:bodyPr>
            <a:normAutofit/>
          </a:bodyPr>
          <a:lstStyle/>
          <a:p>
            <a:pPr marL="0" indent="0">
              <a:buNone/>
            </a:pPr>
            <a:r>
              <a:rPr lang="en-US" b="1" dirty="0"/>
              <a:t>Key findings from Survey &amp; Analysis</a:t>
            </a:r>
          </a:p>
          <a:p>
            <a:r>
              <a:rPr lang="en-US" dirty="0"/>
              <a:t>Frequent digital payment users showed higher impulsive spending behavior.</a:t>
            </a:r>
          </a:p>
          <a:p>
            <a:r>
              <a:rPr lang="en-US" dirty="0"/>
              <a:t>Small online transactions often go unnoticed by users.</a:t>
            </a:r>
          </a:p>
          <a:p>
            <a:r>
              <a:rPr lang="en-US" dirty="0"/>
              <a:t>Emotional factors influence spending decisions during online purchases.</a:t>
            </a:r>
          </a:p>
          <a:p>
            <a:r>
              <a:rPr lang="en-US" dirty="0"/>
              <a:t>Many users track payments but not overall spending patterns.</a:t>
            </a:r>
          </a:p>
          <a:p>
            <a:r>
              <a:rPr lang="en-US" dirty="0"/>
              <a:t>Convenience of UPI reduces the psychological “pain of paying”.</a:t>
            </a:r>
          </a:p>
          <a:p>
            <a:pPr marL="0" indent="0">
              <a:buNone/>
            </a:pPr>
            <a:r>
              <a:rPr lang="en-US" b="1" dirty="0"/>
              <a:t>Strategic Insights</a:t>
            </a:r>
          </a:p>
          <a:p>
            <a:r>
              <a:rPr lang="en-US" dirty="0"/>
              <a:t>Digital convenience increases transaction frequency.</a:t>
            </a:r>
          </a:p>
          <a:p>
            <a:r>
              <a:rPr lang="en-US" dirty="0"/>
              <a:t>Financial awareness does not always increase with digital literacy.</a:t>
            </a:r>
          </a:p>
          <a:p>
            <a:r>
              <a:rPr lang="en-US" dirty="0"/>
              <a:t>Users need behavioral support tools within payment platforms.</a:t>
            </a:r>
          </a:p>
        </p:txBody>
      </p:sp>
      <p:pic>
        <p:nvPicPr>
          <p:cNvPr id="5" name="Picture 4">
            <a:extLst>
              <a:ext uri="{FF2B5EF4-FFF2-40B4-BE49-F238E27FC236}">
                <a16:creationId xmlns:a16="http://schemas.microsoft.com/office/drawing/2014/main" id="{9034AC83-4201-4F73-4075-4978BF9A98DA}"/>
              </a:ext>
            </a:extLst>
          </p:cNvPr>
          <p:cNvPicPr>
            <a:picLocks noChangeAspect="1"/>
          </p:cNvPicPr>
          <p:nvPr/>
        </p:nvPicPr>
        <p:blipFill>
          <a:blip r:embed="rId3"/>
          <a:stretch>
            <a:fillRect/>
          </a:stretch>
        </p:blipFill>
        <p:spPr>
          <a:xfrm>
            <a:off x="7445875" y="553667"/>
            <a:ext cx="2808468" cy="1862961"/>
          </a:xfrm>
          <a:prstGeom prst="rect">
            <a:avLst/>
          </a:prstGeom>
        </p:spPr>
      </p:pic>
      <p:pic>
        <p:nvPicPr>
          <p:cNvPr id="7" name="Picture 6">
            <a:extLst>
              <a:ext uri="{FF2B5EF4-FFF2-40B4-BE49-F238E27FC236}">
                <a16:creationId xmlns:a16="http://schemas.microsoft.com/office/drawing/2014/main" id="{582721C2-6B31-24D1-638B-37C598E072FB}"/>
              </a:ext>
            </a:extLst>
          </p:cNvPr>
          <p:cNvPicPr>
            <a:picLocks noChangeAspect="1"/>
          </p:cNvPicPr>
          <p:nvPr/>
        </p:nvPicPr>
        <p:blipFill>
          <a:blip r:embed="rId4"/>
          <a:stretch>
            <a:fillRect/>
          </a:stretch>
        </p:blipFill>
        <p:spPr>
          <a:xfrm>
            <a:off x="9293290" y="3088433"/>
            <a:ext cx="2351313" cy="1996751"/>
          </a:xfrm>
          <a:prstGeom prst="rect">
            <a:avLst/>
          </a:prstGeom>
        </p:spPr>
      </p:pic>
    </p:spTree>
    <p:extLst>
      <p:ext uri="{BB962C8B-B14F-4D97-AF65-F5344CB8AC3E}">
        <p14:creationId xmlns:p14="http://schemas.microsoft.com/office/powerpoint/2010/main" val="2790697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5D7543-4C0B-CA54-E36B-CB05F0B8AEBA}"/>
              </a:ext>
            </a:extLst>
          </p:cNvPr>
          <p:cNvPicPr>
            <a:picLocks noChangeAspect="1"/>
          </p:cNvPicPr>
          <p:nvPr/>
        </p:nvPicPr>
        <p:blipFill>
          <a:blip r:embed="rId2"/>
          <a:stretch>
            <a:fillRect/>
          </a:stretch>
        </p:blipFill>
        <p:spPr>
          <a:xfrm>
            <a:off x="371659" y="1111045"/>
            <a:ext cx="5724341" cy="3608440"/>
          </a:xfrm>
          <a:prstGeom prst="rect">
            <a:avLst/>
          </a:prstGeom>
        </p:spPr>
      </p:pic>
      <p:pic>
        <p:nvPicPr>
          <p:cNvPr id="3" name="Picture 2">
            <a:extLst>
              <a:ext uri="{FF2B5EF4-FFF2-40B4-BE49-F238E27FC236}">
                <a16:creationId xmlns:a16="http://schemas.microsoft.com/office/drawing/2014/main" id="{38D4C478-8CFA-45AB-64D2-DDC966B45DDE}"/>
              </a:ext>
            </a:extLst>
          </p:cNvPr>
          <p:cNvPicPr>
            <a:picLocks noChangeAspect="1"/>
          </p:cNvPicPr>
          <p:nvPr/>
        </p:nvPicPr>
        <p:blipFill>
          <a:blip r:embed="rId3"/>
          <a:stretch>
            <a:fillRect/>
          </a:stretch>
        </p:blipFill>
        <p:spPr>
          <a:xfrm>
            <a:off x="6212021" y="1111044"/>
            <a:ext cx="5608320" cy="3608439"/>
          </a:xfrm>
          <a:prstGeom prst="rect">
            <a:avLst/>
          </a:prstGeom>
        </p:spPr>
      </p:pic>
    </p:spTree>
    <p:extLst>
      <p:ext uri="{BB962C8B-B14F-4D97-AF65-F5344CB8AC3E}">
        <p14:creationId xmlns:p14="http://schemas.microsoft.com/office/powerpoint/2010/main" val="3290280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5C2C4-98BD-9183-E669-C4CA96A4DE5E}"/>
              </a:ext>
            </a:extLst>
          </p:cNvPr>
          <p:cNvSpPr>
            <a:spLocks noGrp="1"/>
          </p:cNvSpPr>
          <p:nvPr>
            <p:ph type="title"/>
          </p:nvPr>
        </p:nvSpPr>
        <p:spPr/>
        <p:txBody>
          <a:bodyPr>
            <a:normAutofit fontScale="90000"/>
          </a:bodyPr>
          <a:lstStyle/>
          <a:p>
            <a:r>
              <a:rPr lang="en-US" dirty="0"/>
              <a:t>Diagnosis &amp; Problem Identification </a:t>
            </a:r>
          </a:p>
        </p:txBody>
      </p:sp>
      <p:sp>
        <p:nvSpPr>
          <p:cNvPr id="3" name="Content Placeholder 2">
            <a:extLst>
              <a:ext uri="{FF2B5EF4-FFF2-40B4-BE49-F238E27FC236}">
                <a16:creationId xmlns:a16="http://schemas.microsoft.com/office/drawing/2014/main" id="{E706BA6E-F040-93B8-0B44-593D8FED3652}"/>
              </a:ext>
            </a:extLst>
          </p:cNvPr>
          <p:cNvSpPr>
            <a:spLocks noGrp="1"/>
          </p:cNvSpPr>
          <p:nvPr>
            <p:ph idx="1"/>
          </p:nvPr>
        </p:nvSpPr>
        <p:spPr/>
        <p:txBody>
          <a:bodyPr>
            <a:normAutofit fontScale="85000" lnSpcReduction="20000"/>
          </a:bodyPr>
          <a:lstStyle/>
          <a:p>
            <a:pPr marL="0" indent="0">
              <a:buNone/>
            </a:pPr>
            <a:r>
              <a:rPr lang="en-US" b="1" dirty="0"/>
              <a:t>What is Wrong in the Current Approach</a:t>
            </a:r>
          </a:p>
          <a:p>
            <a:r>
              <a:rPr lang="en-US" dirty="0"/>
              <a:t>Digital payment platforms focus mainly on transaction, convenience and speed.</a:t>
            </a:r>
          </a:p>
          <a:p>
            <a:r>
              <a:rPr lang="en-US" dirty="0"/>
              <a:t>Limited features exist for spending awareness and mindful financial behavior.</a:t>
            </a:r>
          </a:p>
          <a:p>
            <a:pPr marL="0" indent="0">
              <a:buNone/>
            </a:pPr>
            <a:r>
              <a:rPr lang="en-US" b="1" dirty="0"/>
              <a:t>Root Causes Identified</a:t>
            </a:r>
          </a:p>
          <a:p>
            <a:r>
              <a:rPr lang="en-US" dirty="0"/>
              <a:t>Reduced psychological awareness during digital transactions.</a:t>
            </a:r>
          </a:p>
          <a:p>
            <a:r>
              <a:rPr lang="en-US" dirty="0"/>
              <a:t>Instant gratification and emotional spending</a:t>
            </a:r>
          </a:p>
          <a:p>
            <a:r>
              <a:rPr lang="en-US" dirty="0"/>
              <a:t>Frequent unnoticed micro-spending </a:t>
            </a:r>
          </a:p>
          <a:p>
            <a:r>
              <a:rPr lang="en-US" dirty="0"/>
              <a:t>Lack of behavioral finance guidance.</a:t>
            </a:r>
          </a:p>
          <a:p>
            <a:pPr marL="0" indent="0">
              <a:buNone/>
            </a:pPr>
            <a:r>
              <a:rPr lang="en-US" b="1" dirty="0"/>
              <a:t>Business Impact of Existing Gaps</a:t>
            </a:r>
          </a:p>
          <a:p>
            <a:r>
              <a:rPr lang="en-US" dirty="0"/>
              <a:t>Increasing impulsive spending behavior</a:t>
            </a:r>
          </a:p>
          <a:p>
            <a:r>
              <a:rPr lang="en-US" dirty="0"/>
              <a:t>Reduced financial discipline among users</a:t>
            </a:r>
          </a:p>
          <a:p>
            <a:r>
              <a:rPr lang="en-US" dirty="0"/>
              <a:t>Lower awareness of long-term financial goals</a:t>
            </a:r>
          </a:p>
          <a:p>
            <a:r>
              <a:rPr lang="en-US" dirty="0"/>
              <a:t>Financial stress and unhealthy spending habits.</a:t>
            </a:r>
          </a:p>
        </p:txBody>
      </p:sp>
      <p:pic>
        <p:nvPicPr>
          <p:cNvPr id="5" name="Picture 4">
            <a:extLst>
              <a:ext uri="{FF2B5EF4-FFF2-40B4-BE49-F238E27FC236}">
                <a16:creationId xmlns:a16="http://schemas.microsoft.com/office/drawing/2014/main" id="{63F5AF0A-3161-F2F2-7F79-B686A118C131}"/>
              </a:ext>
            </a:extLst>
          </p:cNvPr>
          <p:cNvPicPr>
            <a:picLocks noChangeAspect="1"/>
          </p:cNvPicPr>
          <p:nvPr/>
        </p:nvPicPr>
        <p:blipFill>
          <a:blip r:embed="rId2"/>
          <a:stretch>
            <a:fillRect/>
          </a:stretch>
        </p:blipFill>
        <p:spPr>
          <a:xfrm>
            <a:off x="8201608" y="3883266"/>
            <a:ext cx="2923591" cy="2332140"/>
          </a:xfrm>
          <a:prstGeom prst="rect">
            <a:avLst/>
          </a:prstGeom>
        </p:spPr>
      </p:pic>
    </p:spTree>
    <p:extLst>
      <p:ext uri="{BB962C8B-B14F-4D97-AF65-F5344CB8AC3E}">
        <p14:creationId xmlns:p14="http://schemas.microsoft.com/office/powerpoint/2010/main" val="3040472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72CEC-BD73-49FC-EDAD-82B6FD4EB36C}"/>
              </a:ext>
            </a:extLst>
          </p:cNvPr>
          <p:cNvSpPr>
            <a:spLocks noGrp="1"/>
          </p:cNvSpPr>
          <p:nvPr>
            <p:ph type="title"/>
          </p:nvPr>
        </p:nvSpPr>
        <p:spPr/>
        <p:txBody>
          <a:bodyPr>
            <a:normAutofit fontScale="90000"/>
          </a:bodyPr>
          <a:lstStyle/>
          <a:p>
            <a:r>
              <a:rPr lang="en-US" dirty="0"/>
              <a:t>AspiraFi: Proposed Behavioral Finance Framework </a:t>
            </a:r>
          </a:p>
        </p:txBody>
      </p:sp>
      <p:sp>
        <p:nvSpPr>
          <p:cNvPr id="3" name="Content Placeholder 2">
            <a:extLst>
              <a:ext uri="{FF2B5EF4-FFF2-40B4-BE49-F238E27FC236}">
                <a16:creationId xmlns:a16="http://schemas.microsoft.com/office/drawing/2014/main" id="{CC6071BD-C44C-E81E-E556-BF2A3DE87647}"/>
              </a:ext>
            </a:extLst>
          </p:cNvPr>
          <p:cNvSpPr>
            <a:spLocks noGrp="1"/>
          </p:cNvSpPr>
          <p:nvPr>
            <p:ph idx="1"/>
          </p:nvPr>
        </p:nvSpPr>
        <p:spPr/>
        <p:txBody>
          <a:bodyPr>
            <a:normAutofit fontScale="70000" lnSpcReduction="20000"/>
          </a:bodyPr>
          <a:lstStyle/>
          <a:p>
            <a:pPr marL="0" indent="0">
              <a:buNone/>
            </a:pPr>
            <a:r>
              <a:rPr lang="en-US" b="1" dirty="0"/>
              <a:t>Core Features of AspiraFi</a:t>
            </a:r>
          </a:p>
          <a:p>
            <a:r>
              <a:rPr lang="en-US" dirty="0"/>
              <a:t>Spending awareness score</a:t>
            </a:r>
          </a:p>
          <a:p>
            <a:r>
              <a:rPr lang="en-US" dirty="0"/>
              <a:t>Goal-based spending Nudges</a:t>
            </a:r>
          </a:p>
          <a:p>
            <a:r>
              <a:rPr lang="en-US" dirty="0"/>
              <a:t>Emotional spending alerts</a:t>
            </a:r>
          </a:p>
          <a:p>
            <a:r>
              <a:rPr lang="en-US" dirty="0"/>
              <a:t>Cash-like spending visualization</a:t>
            </a:r>
          </a:p>
          <a:p>
            <a:r>
              <a:rPr lang="en-US" dirty="0"/>
              <a:t>Mindful spending dashboard</a:t>
            </a:r>
          </a:p>
          <a:p>
            <a:pPr marL="0" indent="0">
              <a:buNone/>
            </a:pPr>
            <a:r>
              <a:rPr lang="en-US" b="1" dirty="0"/>
              <a:t>Structural Improvements</a:t>
            </a:r>
          </a:p>
          <a:p>
            <a:r>
              <a:rPr lang="en-US" dirty="0"/>
              <a:t>Integrates behavioral finance into digital payment systems</a:t>
            </a:r>
          </a:p>
          <a:p>
            <a:r>
              <a:rPr lang="en-US" dirty="0"/>
              <a:t>Encourages conscious and goal-oriented spending behavior</a:t>
            </a:r>
          </a:p>
          <a:p>
            <a:r>
              <a:rPr lang="en-US" dirty="0"/>
              <a:t>Creates stronger financial awareness among users.</a:t>
            </a:r>
          </a:p>
          <a:p>
            <a:pPr marL="0" indent="0">
              <a:buNone/>
            </a:pPr>
            <a:r>
              <a:rPr lang="en-US" b="1" dirty="0"/>
              <a:t>What Changes Specifically</a:t>
            </a:r>
          </a:p>
          <a:p>
            <a:r>
              <a:rPr lang="en-US" dirty="0"/>
              <a:t>Users become more aware of spending habits</a:t>
            </a:r>
          </a:p>
          <a:p>
            <a:r>
              <a:rPr lang="en-US" dirty="0"/>
              <a:t>Payment platforms support mindful financial decisions</a:t>
            </a:r>
          </a:p>
          <a:p>
            <a:r>
              <a:rPr lang="en-US" dirty="0"/>
              <a:t>Financial discipline improves without reducing convenience.</a:t>
            </a:r>
          </a:p>
          <a:p>
            <a:endParaRPr lang="en-US" dirty="0"/>
          </a:p>
          <a:p>
            <a:endParaRPr lang="en-US" dirty="0"/>
          </a:p>
        </p:txBody>
      </p:sp>
      <p:pic>
        <p:nvPicPr>
          <p:cNvPr id="5" name="Picture 4">
            <a:extLst>
              <a:ext uri="{FF2B5EF4-FFF2-40B4-BE49-F238E27FC236}">
                <a16:creationId xmlns:a16="http://schemas.microsoft.com/office/drawing/2014/main" id="{93AC8449-2D86-A1F6-FB2A-1904102F6B8A}"/>
              </a:ext>
            </a:extLst>
          </p:cNvPr>
          <p:cNvPicPr>
            <a:picLocks noChangeAspect="1"/>
          </p:cNvPicPr>
          <p:nvPr/>
        </p:nvPicPr>
        <p:blipFill>
          <a:blip r:embed="rId2"/>
          <a:stretch>
            <a:fillRect/>
          </a:stretch>
        </p:blipFill>
        <p:spPr>
          <a:xfrm>
            <a:off x="9400934" y="493019"/>
            <a:ext cx="2271662" cy="1419423"/>
          </a:xfrm>
          <a:prstGeom prst="rect">
            <a:avLst/>
          </a:prstGeom>
        </p:spPr>
      </p:pic>
      <p:pic>
        <p:nvPicPr>
          <p:cNvPr id="9" name="Picture 8">
            <a:extLst>
              <a:ext uri="{FF2B5EF4-FFF2-40B4-BE49-F238E27FC236}">
                <a16:creationId xmlns:a16="http://schemas.microsoft.com/office/drawing/2014/main" id="{01948A76-3D46-96BD-B72C-FA2589413D46}"/>
              </a:ext>
            </a:extLst>
          </p:cNvPr>
          <p:cNvPicPr>
            <a:picLocks noChangeAspect="1"/>
          </p:cNvPicPr>
          <p:nvPr/>
        </p:nvPicPr>
        <p:blipFill>
          <a:blip r:embed="rId3"/>
          <a:stretch>
            <a:fillRect/>
          </a:stretch>
        </p:blipFill>
        <p:spPr>
          <a:xfrm>
            <a:off x="7184571" y="2453950"/>
            <a:ext cx="4581331" cy="3581089"/>
          </a:xfrm>
          <a:prstGeom prst="rect">
            <a:avLst/>
          </a:prstGeom>
        </p:spPr>
      </p:pic>
    </p:spTree>
    <p:extLst>
      <p:ext uri="{BB962C8B-B14F-4D97-AF65-F5344CB8AC3E}">
        <p14:creationId xmlns:p14="http://schemas.microsoft.com/office/powerpoint/2010/main" val="114486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822BF-B0F3-A887-D474-6654192038AF}"/>
              </a:ext>
            </a:extLst>
          </p:cNvPr>
          <p:cNvSpPr>
            <a:spLocks noGrp="1"/>
          </p:cNvSpPr>
          <p:nvPr>
            <p:ph type="title"/>
          </p:nvPr>
        </p:nvSpPr>
        <p:spPr/>
        <p:txBody>
          <a:bodyPr/>
          <a:lstStyle/>
          <a:p>
            <a:r>
              <a:rPr lang="en-US" dirty="0"/>
              <a:t>Implementation plan</a:t>
            </a:r>
          </a:p>
        </p:txBody>
      </p:sp>
      <p:sp>
        <p:nvSpPr>
          <p:cNvPr id="3" name="Content Placeholder 2">
            <a:extLst>
              <a:ext uri="{FF2B5EF4-FFF2-40B4-BE49-F238E27FC236}">
                <a16:creationId xmlns:a16="http://schemas.microsoft.com/office/drawing/2014/main" id="{23CEF208-36BA-E02B-B5BB-02017EF1B499}"/>
              </a:ext>
            </a:extLst>
          </p:cNvPr>
          <p:cNvSpPr>
            <a:spLocks noGrp="1"/>
          </p:cNvSpPr>
          <p:nvPr>
            <p:ph idx="1"/>
          </p:nvPr>
        </p:nvSpPr>
        <p:spPr>
          <a:xfrm>
            <a:off x="1066800" y="1754155"/>
            <a:ext cx="10058400" cy="4553339"/>
          </a:xfrm>
        </p:spPr>
        <p:txBody>
          <a:bodyPr>
            <a:normAutofit fontScale="62500" lnSpcReduction="20000"/>
          </a:bodyPr>
          <a:lstStyle/>
          <a:p>
            <a:pPr marL="0" indent="0">
              <a:buNone/>
            </a:pPr>
            <a:r>
              <a:rPr lang="en-US" b="1" dirty="0"/>
              <a:t>Phase 1 – Research &amp; Integration</a:t>
            </a:r>
          </a:p>
          <a:p>
            <a:r>
              <a:rPr lang="en-US" dirty="0"/>
              <a:t>Identify user behavioral patterns</a:t>
            </a:r>
          </a:p>
          <a:p>
            <a:r>
              <a:rPr lang="en-US" dirty="0"/>
              <a:t>Integrate AspiraFi features within digital payment platforms</a:t>
            </a:r>
          </a:p>
          <a:p>
            <a:pPr marL="0" indent="0">
              <a:buNone/>
            </a:pPr>
            <a:r>
              <a:rPr lang="en-US" b="1" dirty="0"/>
              <a:t>Phase 2 – Pilot Testing</a:t>
            </a:r>
          </a:p>
          <a:p>
            <a:r>
              <a:rPr lang="en-US" dirty="0"/>
              <a:t>Launch limited testing among selected users </a:t>
            </a:r>
          </a:p>
          <a:p>
            <a:r>
              <a:rPr lang="en-US" dirty="0"/>
              <a:t>Collect user feedback and behavioral insights</a:t>
            </a:r>
          </a:p>
          <a:p>
            <a:pPr marL="0" indent="0">
              <a:buNone/>
            </a:pPr>
            <a:r>
              <a:rPr lang="en-US" b="1" dirty="0"/>
              <a:t>Phase 3 -  Behavioral Optimization</a:t>
            </a:r>
          </a:p>
          <a:p>
            <a:r>
              <a:rPr lang="en-US" dirty="0"/>
              <a:t>Improve nudges, alerts, and awareness features</a:t>
            </a:r>
          </a:p>
          <a:p>
            <a:r>
              <a:rPr lang="en-US" dirty="0"/>
              <a:t>Customize user experience based on spending patterns</a:t>
            </a:r>
          </a:p>
          <a:p>
            <a:pPr marL="0" indent="0">
              <a:buNone/>
            </a:pPr>
            <a:r>
              <a:rPr lang="en-US" b="1" dirty="0"/>
              <a:t>Phase 4 – Full Scale Deployment</a:t>
            </a:r>
          </a:p>
          <a:p>
            <a:r>
              <a:rPr lang="en-US" dirty="0"/>
              <a:t>Implement framework across digital payment ecosystem</a:t>
            </a:r>
          </a:p>
          <a:p>
            <a:r>
              <a:rPr lang="en-US" dirty="0"/>
              <a:t>Continuously monitor user engagement and financial behavior</a:t>
            </a:r>
          </a:p>
          <a:p>
            <a:pPr marL="0" indent="0">
              <a:buNone/>
            </a:pPr>
            <a:r>
              <a:rPr lang="en-US" b="1" dirty="0"/>
              <a:t>Key stakeholders</a:t>
            </a:r>
          </a:p>
          <a:p>
            <a:r>
              <a:rPr lang="en-US" dirty="0"/>
              <a:t> Fintech companies </a:t>
            </a:r>
          </a:p>
          <a:p>
            <a:r>
              <a:rPr lang="en-US" dirty="0"/>
              <a:t>Product design teams</a:t>
            </a:r>
          </a:p>
          <a:p>
            <a:r>
              <a:rPr lang="en-US" dirty="0"/>
              <a:t>Behavioral finance analysts</a:t>
            </a:r>
          </a:p>
          <a:p>
            <a:r>
              <a:rPr lang="en-US" dirty="0"/>
              <a:t>Digital payment users.</a:t>
            </a:r>
          </a:p>
          <a:p>
            <a:endParaRPr lang="en-US" dirty="0"/>
          </a:p>
        </p:txBody>
      </p:sp>
      <p:pic>
        <p:nvPicPr>
          <p:cNvPr id="5" name="Picture 4">
            <a:extLst>
              <a:ext uri="{FF2B5EF4-FFF2-40B4-BE49-F238E27FC236}">
                <a16:creationId xmlns:a16="http://schemas.microsoft.com/office/drawing/2014/main" id="{7C9804ED-CBBA-AC38-67BC-88B29436A7D2}"/>
              </a:ext>
            </a:extLst>
          </p:cNvPr>
          <p:cNvPicPr>
            <a:picLocks noChangeAspect="1"/>
          </p:cNvPicPr>
          <p:nvPr/>
        </p:nvPicPr>
        <p:blipFill>
          <a:blip r:embed="rId2"/>
          <a:stretch>
            <a:fillRect/>
          </a:stretch>
        </p:blipFill>
        <p:spPr>
          <a:xfrm>
            <a:off x="8554912" y="735065"/>
            <a:ext cx="2570288" cy="2017466"/>
          </a:xfrm>
          <a:prstGeom prst="rect">
            <a:avLst/>
          </a:prstGeom>
        </p:spPr>
      </p:pic>
      <p:pic>
        <p:nvPicPr>
          <p:cNvPr id="7" name="Picture 6">
            <a:extLst>
              <a:ext uri="{FF2B5EF4-FFF2-40B4-BE49-F238E27FC236}">
                <a16:creationId xmlns:a16="http://schemas.microsoft.com/office/drawing/2014/main" id="{AD1E0548-5C0A-B493-0449-AC767987F6AF}"/>
              </a:ext>
            </a:extLst>
          </p:cNvPr>
          <p:cNvPicPr>
            <a:picLocks noChangeAspect="1"/>
          </p:cNvPicPr>
          <p:nvPr/>
        </p:nvPicPr>
        <p:blipFill>
          <a:blip r:embed="rId3"/>
          <a:stretch>
            <a:fillRect/>
          </a:stretch>
        </p:blipFill>
        <p:spPr>
          <a:xfrm>
            <a:off x="8294914" y="3906038"/>
            <a:ext cx="2830286" cy="2309368"/>
          </a:xfrm>
          <a:prstGeom prst="rect">
            <a:avLst/>
          </a:prstGeom>
        </p:spPr>
      </p:pic>
    </p:spTree>
    <p:extLst>
      <p:ext uri="{BB962C8B-B14F-4D97-AF65-F5344CB8AC3E}">
        <p14:creationId xmlns:p14="http://schemas.microsoft.com/office/powerpoint/2010/main" val="2408961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A1C44-00F0-A5C1-8EFD-ABF133A6C8CC}"/>
              </a:ext>
            </a:extLst>
          </p:cNvPr>
          <p:cNvSpPr>
            <a:spLocks noGrp="1"/>
          </p:cNvSpPr>
          <p:nvPr>
            <p:ph type="title"/>
          </p:nvPr>
        </p:nvSpPr>
        <p:spPr/>
        <p:txBody>
          <a:bodyPr/>
          <a:lstStyle/>
          <a:p>
            <a:r>
              <a:rPr lang="en-US" dirty="0"/>
              <a:t>Financial Impact</a:t>
            </a:r>
          </a:p>
        </p:txBody>
      </p:sp>
      <p:sp>
        <p:nvSpPr>
          <p:cNvPr id="3" name="Content Placeholder 2">
            <a:extLst>
              <a:ext uri="{FF2B5EF4-FFF2-40B4-BE49-F238E27FC236}">
                <a16:creationId xmlns:a16="http://schemas.microsoft.com/office/drawing/2014/main" id="{10978182-F642-C36A-5A18-B6D0F8274D51}"/>
              </a:ext>
            </a:extLst>
          </p:cNvPr>
          <p:cNvSpPr>
            <a:spLocks noGrp="1"/>
          </p:cNvSpPr>
          <p:nvPr>
            <p:ph idx="1"/>
          </p:nvPr>
        </p:nvSpPr>
        <p:spPr/>
        <p:txBody>
          <a:bodyPr>
            <a:normAutofit fontScale="70000" lnSpcReduction="20000"/>
          </a:bodyPr>
          <a:lstStyle/>
          <a:p>
            <a:pPr marL="0" indent="0">
              <a:buNone/>
            </a:pPr>
            <a:r>
              <a:rPr lang="en-US" b="1" dirty="0"/>
              <a:t>Expected Revenue Impact</a:t>
            </a:r>
          </a:p>
          <a:p>
            <a:r>
              <a:rPr lang="en-US" dirty="0"/>
              <a:t>Increased user engagement within digital payment platforms</a:t>
            </a:r>
          </a:p>
          <a:p>
            <a:r>
              <a:rPr lang="en-US" dirty="0"/>
              <a:t>Improved customer retention through personalized financial support.</a:t>
            </a:r>
          </a:p>
          <a:p>
            <a:pPr marL="0" indent="0">
              <a:buNone/>
            </a:pPr>
            <a:r>
              <a:rPr lang="en-US" b="1" dirty="0"/>
              <a:t>Expected Cost Savings</a:t>
            </a:r>
          </a:p>
          <a:p>
            <a:r>
              <a:rPr lang="en-US" dirty="0"/>
              <a:t> Reduced financial stress-related user dissatisfaction</a:t>
            </a:r>
          </a:p>
          <a:p>
            <a:r>
              <a:rPr lang="en-US" dirty="0"/>
              <a:t>Better spending awareness may reduce unnecessary transaction dependency</a:t>
            </a:r>
          </a:p>
          <a:p>
            <a:pPr marL="0" indent="0">
              <a:buNone/>
            </a:pPr>
            <a:r>
              <a:rPr lang="en-US" b="1" dirty="0"/>
              <a:t>Expected Margin &amp; Business Benefits</a:t>
            </a:r>
          </a:p>
          <a:p>
            <a:r>
              <a:rPr lang="en-US" dirty="0"/>
              <a:t>Stronger customer trust and platform loyalty</a:t>
            </a:r>
          </a:p>
          <a:p>
            <a:r>
              <a:rPr lang="en-US" dirty="0"/>
              <a:t>Enhanced long-term user relationship and engagement.</a:t>
            </a:r>
          </a:p>
          <a:p>
            <a:pPr marL="0" indent="0">
              <a:buNone/>
            </a:pPr>
            <a:r>
              <a:rPr lang="en-US" b="1" dirty="0"/>
              <a:t>Estimated Investment Required</a:t>
            </a:r>
          </a:p>
          <a:p>
            <a:r>
              <a:rPr lang="en-US" dirty="0"/>
              <a:t>Behavioral analytics integration</a:t>
            </a:r>
          </a:p>
          <a:p>
            <a:r>
              <a:rPr lang="en-US" dirty="0"/>
              <a:t>User interface redesign</a:t>
            </a:r>
          </a:p>
          <a:p>
            <a:r>
              <a:rPr lang="en-US" dirty="0"/>
              <a:t>Development of awareness and tracking features</a:t>
            </a:r>
          </a:p>
          <a:p>
            <a:r>
              <a:rPr lang="en-US" dirty="0"/>
              <a:t>Data monitoring and feedback systems</a:t>
            </a:r>
          </a:p>
        </p:txBody>
      </p:sp>
      <p:pic>
        <p:nvPicPr>
          <p:cNvPr id="5" name="Picture 4">
            <a:extLst>
              <a:ext uri="{FF2B5EF4-FFF2-40B4-BE49-F238E27FC236}">
                <a16:creationId xmlns:a16="http://schemas.microsoft.com/office/drawing/2014/main" id="{AA911F50-535A-1EE7-C3AE-405DCD4D0322}"/>
              </a:ext>
            </a:extLst>
          </p:cNvPr>
          <p:cNvPicPr>
            <a:picLocks noChangeAspect="1"/>
          </p:cNvPicPr>
          <p:nvPr/>
        </p:nvPicPr>
        <p:blipFill>
          <a:blip r:embed="rId2"/>
          <a:stretch>
            <a:fillRect/>
          </a:stretch>
        </p:blipFill>
        <p:spPr>
          <a:xfrm>
            <a:off x="8750528" y="590301"/>
            <a:ext cx="2800770" cy="2330181"/>
          </a:xfrm>
          <a:prstGeom prst="rect">
            <a:avLst/>
          </a:prstGeom>
        </p:spPr>
      </p:pic>
    </p:spTree>
    <p:extLst>
      <p:ext uri="{BB962C8B-B14F-4D97-AF65-F5344CB8AC3E}">
        <p14:creationId xmlns:p14="http://schemas.microsoft.com/office/powerpoint/2010/main" val="1216732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31EB-6167-2582-B49B-0B47490DDE8B}"/>
              </a:ext>
            </a:extLst>
          </p:cNvPr>
          <p:cNvSpPr>
            <a:spLocks noGrp="1"/>
          </p:cNvSpPr>
          <p:nvPr>
            <p:ph type="title"/>
          </p:nvPr>
        </p:nvSpPr>
        <p:spPr/>
        <p:txBody>
          <a:bodyPr/>
          <a:lstStyle/>
          <a:p>
            <a:r>
              <a:rPr lang="en-US" dirty="0"/>
              <a:t>Risk &amp; Governance Controls</a:t>
            </a:r>
          </a:p>
        </p:txBody>
      </p:sp>
      <p:sp>
        <p:nvSpPr>
          <p:cNvPr id="3" name="Content Placeholder 2">
            <a:extLst>
              <a:ext uri="{FF2B5EF4-FFF2-40B4-BE49-F238E27FC236}">
                <a16:creationId xmlns:a16="http://schemas.microsoft.com/office/drawing/2014/main" id="{160AF2E6-D387-5690-7414-78D10D7CD4B4}"/>
              </a:ext>
            </a:extLst>
          </p:cNvPr>
          <p:cNvSpPr>
            <a:spLocks noGrp="1"/>
          </p:cNvSpPr>
          <p:nvPr>
            <p:ph idx="1"/>
          </p:nvPr>
        </p:nvSpPr>
        <p:spPr>
          <a:xfrm>
            <a:off x="1066800" y="1856792"/>
            <a:ext cx="10058400" cy="4178248"/>
          </a:xfrm>
        </p:spPr>
        <p:txBody>
          <a:bodyPr>
            <a:normAutofit fontScale="70000" lnSpcReduction="20000"/>
          </a:bodyPr>
          <a:lstStyle/>
          <a:p>
            <a:pPr marL="0" indent="0">
              <a:buNone/>
            </a:pPr>
            <a:r>
              <a:rPr lang="en-US" b="1" dirty="0"/>
              <a:t>Key risks</a:t>
            </a:r>
          </a:p>
          <a:p>
            <a:r>
              <a:rPr lang="en-US" dirty="0"/>
              <a:t>User privacy and data security concerns </a:t>
            </a:r>
          </a:p>
          <a:p>
            <a:r>
              <a:rPr lang="en-US" dirty="0"/>
              <a:t>Excessive notification or alert fatigue</a:t>
            </a:r>
          </a:p>
          <a:p>
            <a:r>
              <a:rPr lang="en-US" dirty="0"/>
              <a:t>Resistance to  behavioral spending interventions</a:t>
            </a:r>
          </a:p>
          <a:p>
            <a:r>
              <a:rPr lang="en-US" dirty="0"/>
              <a:t>Overdependence on automated financial guidance</a:t>
            </a:r>
          </a:p>
          <a:p>
            <a:pPr marL="0" indent="0">
              <a:buNone/>
            </a:pPr>
            <a:r>
              <a:rPr lang="en-US" b="1" dirty="0"/>
              <a:t>Mitigation Strategies</a:t>
            </a:r>
          </a:p>
          <a:p>
            <a:r>
              <a:rPr lang="en-US" dirty="0"/>
              <a:t>Transparent data usage policies</a:t>
            </a:r>
          </a:p>
          <a:p>
            <a:r>
              <a:rPr lang="en-US" dirty="0"/>
              <a:t>Customizable spending alerts and reminders</a:t>
            </a:r>
          </a:p>
          <a:p>
            <a:r>
              <a:rPr lang="en-US" dirty="0"/>
              <a:t>User- controlled notification settings</a:t>
            </a:r>
          </a:p>
          <a:p>
            <a:r>
              <a:rPr lang="en-US" dirty="0"/>
              <a:t>Ethical use of behavioral analytics.</a:t>
            </a:r>
          </a:p>
          <a:p>
            <a:pPr marL="0" indent="0">
              <a:buNone/>
            </a:pPr>
            <a:r>
              <a:rPr lang="en-US" b="1" dirty="0"/>
              <a:t> Monitoring Mechanism</a:t>
            </a:r>
          </a:p>
          <a:p>
            <a:r>
              <a:rPr lang="en-US" dirty="0"/>
              <a:t>Regular tracking of user engagement</a:t>
            </a:r>
          </a:p>
          <a:p>
            <a:r>
              <a:rPr lang="en-US" dirty="0"/>
              <a:t>Feedback-based feature improvement</a:t>
            </a:r>
          </a:p>
          <a:p>
            <a:r>
              <a:rPr lang="en-US" dirty="0"/>
              <a:t>Monitoring spending awareness trends</a:t>
            </a:r>
          </a:p>
          <a:p>
            <a:r>
              <a:rPr lang="en-US" dirty="0"/>
              <a:t>Periodic review of behavioral impact</a:t>
            </a:r>
          </a:p>
          <a:p>
            <a:endParaRPr lang="en-US" dirty="0"/>
          </a:p>
        </p:txBody>
      </p:sp>
      <p:pic>
        <p:nvPicPr>
          <p:cNvPr id="7" name="Picture 6">
            <a:extLst>
              <a:ext uri="{FF2B5EF4-FFF2-40B4-BE49-F238E27FC236}">
                <a16:creationId xmlns:a16="http://schemas.microsoft.com/office/drawing/2014/main" id="{BD02B579-4D34-FFA6-92F0-642A34706A18}"/>
              </a:ext>
            </a:extLst>
          </p:cNvPr>
          <p:cNvPicPr>
            <a:picLocks noChangeAspect="1"/>
          </p:cNvPicPr>
          <p:nvPr/>
        </p:nvPicPr>
        <p:blipFill>
          <a:blip r:embed="rId2"/>
          <a:stretch>
            <a:fillRect/>
          </a:stretch>
        </p:blipFill>
        <p:spPr>
          <a:xfrm>
            <a:off x="8033657" y="3071983"/>
            <a:ext cx="2258008" cy="1771824"/>
          </a:xfrm>
          <a:prstGeom prst="rect">
            <a:avLst/>
          </a:prstGeom>
        </p:spPr>
      </p:pic>
    </p:spTree>
    <p:extLst>
      <p:ext uri="{BB962C8B-B14F-4D97-AF65-F5344CB8AC3E}">
        <p14:creationId xmlns:p14="http://schemas.microsoft.com/office/powerpoint/2010/main" val="1721896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8A91E-D4B8-5AB4-53E2-167C8FA932E9}"/>
              </a:ext>
            </a:extLst>
          </p:cNvPr>
          <p:cNvSpPr>
            <a:spLocks noGrp="1"/>
          </p:cNvSpPr>
          <p:nvPr>
            <p:ph type="title"/>
          </p:nvPr>
        </p:nvSpPr>
        <p:spPr/>
        <p:txBody>
          <a:bodyPr/>
          <a:lstStyle/>
          <a:p>
            <a:r>
              <a:rPr lang="en-US" dirty="0"/>
              <a:t>Performance KPIs</a:t>
            </a:r>
          </a:p>
        </p:txBody>
      </p:sp>
      <p:graphicFrame>
        <p:nvGraphicFramePr>
          <p:cNvPr id="4" name="Content Placeholder 3">
            <a:extLst>
              <a:ext uri="{FF2B5EF4-FFF2-40B4-BE49-F238E27FC236}">
                <a16:creationId xmlns:a16="http://schemas.microsoft.com/office/drawing/2014/main" id="{5EF6888A-8C19-9E11-2EAE-9BB2AC93A9F6}"/>
              </a:ext>
            </a:extLst>
          </p:cNvPr>
          <p:cNvGraphicFramePr>
            <a:graphicFrameLocks noGrp="1"/>
          </p:cNvGraphicFramePr>
          <p:nvPr>
            <p:ph idx="1"/>
            <p:extLst>
              <p:ext uri="{D42A27DB-BD31-4B8C-83A1-F6EECF244321}">
                <p14:modId xmlns:p14="http://schemas.microsoft.com/office/powerpoint/2010/main" val="3181153755"/>
              </p:ext>
            </p:extLst>
          </p:nvPr>
        </p:nvGraphicFramePr>
        <p:xfrm>
          <a:off x="1066802" y="2090057"/>
          <a:ext cx="9825786" cy="3941774"/>
        </p:xfrm>
        <a:graphic>
          <a:graphicData uri="http://schemas.openxmlformats.org/drawingml/2006/table">
            <a:tbl>
              <a:tblPr/>
              <a:tblGrid>
                <a:gridCol w="3275262">
                  <a:extLst>
                    <a:ext uri="{9D8B030D-6E8A-4147-A177-3AD203B41FA5}">
                      <a16:colId xmlns:a16="http://schemas.microsoft.com/office/drawing/2014/main" val="3031175372"/>
                    </a:ext>
                  </a:extLst>
                </a:gridCol>
                <a:gridCol w="3275262">
                  <a:extLst>
                    <a:ext uri="{9D8B030D-6E8A-4147-A177-3AD203B41FA5}">
                      <a16:colId xmlns:a16="http://schemas.microsoft.com/office/drawing/2014/main" val="3939801884"/>
                    </a:ext>
                  </a:extLst>
                </a:gridCol>
                <a:gridCol w="3275262">
                  <a:extLst>
                    <a:ext uri="{9D8B030D-6E8A-4147-A177-3AD203B41FA5}">
                      <a16:colId xmlns:a16="http://schemas.microsoft.com/office/drawing/2014/main" val="2480707846"/>
                    </a:ext>
                  </a:extLst>
                </a:gridCol>
              </a:tblGrid>
              <a:tr h="404284">
                <a:tc>
                  <a:txBody>
                    <a:bodyPr/>
                    <a:lstStyle/>
                    <a:p>
                      <a:r>
                        <a:rPr lang="en-US" dirty="0"/>
                        <a:t>KPI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Current Situation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Expected Target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4660588"/>
                  </a:ext>
                </a:extLst>
              </a:tr>
              <a:tr h="707498">
                <a:tc>
                  <a:txBody>
                    <a:bodyPr/>
                    <a:lstStyle/>
                    <a:p>
                      <a:r>
                        <a:rPr lang="en-US" dirty="0"/>
                        <a:t>Spending Awareness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Improved Awareness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5244632"/>
                  </a:ext>
                </a:extLst>
              </a:tr>
              <a:tr h="707498">
                <a:tc>
                  <a:txBody>
                    <a:bodyPr/>
                    <a:lstStyle/>
                    <a:p>
                      <a:r>
                        <a:rPr lang="en-US"/>
                        <a:t>Impulsive Spending Frequency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Reduced Spending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1877553"/>
                  </a:ext>
                </a:extLst>
              </a:tr>
              <a:tr h="707498">
                <a:tc>
                  <a:txBody>
                    <a:bodyPr/>
                    <a:lstStyle/>
                    <a:p>
                      <a:r>
                        <a:rPr lang="en-US"/>
                        <a:t>Financial Goal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Increased Goal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73535"/>
                  </a:ext>
                </a:extLst>
              </a:tr>
              <a:tr h="707498">
                <a:tc>
                  <a:txBody>
                    <a:bodyPr/>
                    <a:lstStyle/>
                    <a:p>
                      <a:r>
                        <a:rPr lang="en-US"/>
                        <a:t>User Engagement with Financial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Higher Engagement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3528272"/>
                  </a:ext>
                </a:extLst>
              </a:tr>
              <a:tr h="707498">
                <a:tc>
                  <a:txBody>
                    <a:bodyPr/>
                    <a:lstStyle/>
                    <a:p>
                      <a:r>
                        <a:rPr lang="en-US"/>
                        <a:t>Mindful Spending Behavior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Inconsistent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More Consistent Behavior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8462115"/>
                  </a:ext>
                </a:extLst>
              </a:tr>
            </a:tbl>
          </a:graphicData>
        </a:graphic>
      </p:graphicFrame>
      <p:pic>
        <p:nvPicPr>
          <p:cNvPr id="5" name="Picture 4">
            <a:extLst>
              <a:ext uri="{FF2B5EF4-FFF2-40B4-BE49-F238E27FC236}">
                <a16:creationId xmlns:a16="http://schemas.microsoft.com/office/drawing/2014/main" id="{73801B26-0E7A-79A7-A3C5-2C5CEDF23B4D}"/>
              </a:ext>
            </a:extLst>
          </p:cNvPr>
          <p:cNvPicPr>
            <a:picLocks noChangeAspect="1"/>
          </p:cNvPicPr>
          <p:nvPr/>
        </p:nvPicPr>
        <p:blipFill>
          <a:blip r:embed="rId3"/>
          <a:stretch>
            <a:fillRect/>
          </a:stretch>
        </p:blipFill>
        <p:spPr>
          <a:xfrm>
            <a:off x="8500188" y="312819"/>
            <a:ext cx="2286823" cy="1562633"/>
          </a:xfrm>
          <a:prstGeom prst="rect">
            <a:avLst/>
          </a:prstGeom>
        </p:spPr>
      </p:pic>
    </p:spTree>
    <p:extLst>
      <p:ext uri="{BB962C8B-B14F-4D97-AF65-F5344CB8AC3E}">
        <p14:creationId xmlns:p14="http://schemas.microsoft.com/office/powerpoint/2010/main" val="724349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566BF-2E69-5BF9-A1FC-66AA8BCC50CE}"/>
              </a:ext>
            </a:extLst>
          </p:cNvPr>
          <p:cNvSpPr>
            <a:spLocks noGrp="1"/>
          </p:cNvSpPr>
          <p:nvPr>
            <p:ph type="title"/>
          </p:nvPr>
        </p:nvSpPr>
        <p:spPr/>
        <p:txBody>
          <a:bodyPr/>
          <a:lstStyle/>
          <a:p>
            <a:r>
              <a:rPr lang="en-US" dirty="0"/>
              <a:t>Strategic Impact</a:t>
            </a:r>
          </a:p>
        </p:txBody>
      </p:sp>
      <p:sp>
        <p:nvSpPr>
          <p:cNvPr id="3" name="Content Placeholder 2">
            <a:extLst>
              <a:ext uri="{FF2B5EF4-FFF2-40B4-BE49-F238E27FC236}">
                <a16:creationId xmlns:a16="http://schemas.microsoft.com/office/drawing/2014/main" id="{01999BEC-3D10-34B4-27D6-9361EC3E81F2}"/>
              </a:ext>
            </a:extLst>
          </p:cNvPr>
          <p:cNvSpPr>
            <a:spLocks noGrp="1"/>
          </p:cNvSpPr>
          <p:nvPr>
            <p:ph idx="1"/>
          </p:nvPr>
        </p:nvSpPr>
        <p:spPr/>
        <p:txBody>
          <a:bodyPr>
            <a:normAutofit/>
          </a:bodyPr>
          <a:lstStyle/>
          <a:p>
            <a:pPr marL="0" indent="0">
              <a:buNone/>
            </a:pPr>
            <a:r>
              <a:rPr lang="en-US" b="1" dirty="0"/>
              <a:t>Competitive Advantage for Fintech Platforms</a:t>
            </a:r>
          </a:p>
          <a:p>
            <a:r>
              <a:rPr lang="en-US" dirty="0"/>
              <a:t>Differentiates payment platforms through behavioral finance integration</a:t>
            </a:r>
          </a:p>
          <a:p>
            <a:pPr marL="0" indent="0">
              <a:buNone/>
            </a:pPr>
            <a:r>
              <a:rPr lang="en-US" b="1" dirty="0"/>
              <a:t>Long-Term Value Creation</a:t>
            </a:r>
          </a:p>
          <a:p>
            <a:r>
              <a:rPr lang="en-US" dirty="0"/>
              <a:t>Encourages healthier financial habits among users</a:t>
            </a:r>
          </a:p>
          <a:p>
            <a:r>
              <a:rPr lang="en-US" dirty="0"/>
              <a:t>Builds stronger customer trust and long-term engagement</a:t>
            </a:r>
          </a:p>
          <a:p>
            <a:r>
              <a:rPr lang="en-US" dirty="0"/>
              <a:t>Supports sustainable digital financial behavior</a:t>
            </a:r>
          </a:p>
          <a:p>
            <a:pPr marL="0" indent="0">
              <a:buNone/>
            </a:pPr>
            <a:r>
              <a:rPr lang="en-US" b="1" dirty="0"/>
              <a:t>Organization Capability Enhancement</a:t>
            </a:r>
          </a:p>
          <a:p>
            <a:r>
              <a:rPr lang="en-US" dirty="0"/>
              <a:t>Strengthens behavioral analytics capabilities</a:t>
            </a:r>
          </a:p>
          <a:p>
            <a:r>
              <a:rPr lang="en-US" dirty="0"/>
              <a:t>Improves understanding of consumer spending psychology</a:t>
            </a:r>
          </a:p>
          <a:p>
            <a:r>
              <a:rPr lang="en-US" dirty="0"/>
              <a:t>Encourages innovation in financial technology services.</a:t>
            </a:r>
          </a:p>
          <a:p>
            <a:endParaRPr lang="en-US" dirty="0"/>
          </a:p>
        </p:txBody>
      </p:sp>
      <p:pic>
        <p:nvPicPr>
          <p:cNvPr id="5" name="Picture 4">
            <a:extLst>
              <a:ext uri="{FF2B5EF4-FFF2-40B4-BE49-F238E27FC236}">
                <a16:creationId xmlns:a16="http://schemas.microsoft.com/office/drawing/2014/main" id="{38B9F5FE-EA14-FFF2-6828-7A18C1AA5006}"/>
              </a:ext>
            </a:extLst>
          </p:cNvPr>
          <p:cNvPicPr>
            <a:picLocks noChangeAspect="1"/>
          </p:cNvPicPr>
          <p:nvPr/>
        </p:nvPicPr>
        <p:blipFill>
          <a:blip r:embed="rId3"/>
          <a:stretch>
            <a:fillRect/>
          </a:stretch>
        </p:blipFill>
        <p:spPr>
          <a:xfrm>
            <a:off x="8696132" y="551997"/>
            <a:ext cx="2199782" cy="1929945"/>
          </a:xfrm>
          <a:prstGeom prst="rect">
            <a:avLst/>
          </a:prstGeom>
        </p:spPr>
      </p:pic>
    </p:spTree>
    <p:extLst>
      <p:ext uri="{BB962C8B-B14F-4D97-AF65-F5344CB8AC3E}">
        <p14:creationId xmlns:p14="http://schemas.microsoft.com/office/powerpoint/2010/main" val="1231111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F516-D37E-BDB2-672D-7A1515B740BB}"/>
              </a:ext>
            </a:extLst>
          </p:cNvPr>
          <p:cNvSpPr>
            <a:spLocks noGrp="1"/>
          </p:cNvSpPr>
          <p:nvPr>
            <p:ph type="title"/>
          </p:nvPr>
        </p:nvSpPr>
        <p:spPr/>
        <p:txBody>
          <a:bodyPr>
            <a:normAutofit fontScale="90000"/>
          </a:bodyPr>
          <a:lstStyle/>
          <a:p>
            <a:r>
              <a:rPr lang="en-US" dirty="0"/>
              <a:t>Executive Summary &amp; Recommendation</a:t>
            </a:r>
          </a:p>
        </p:txBody>
      </p:sp>
      <p:sp>
        <p:nvSpPr>
          <p:cNvPr id="3" name="Content Placeholder 2">
            <a:extLst>
              <a:ext uri="{FF2B5EF4-FFF2-40B4-BE49-F238E27FC236}">
                <a16:creationId xmlns:a16="http://schemas.microsoft.com/office/drawing/2014/main" id="{A8E0FD12-1300-3F87-7E26-BF457EB24EB7}"/>
              </a:ext>
            </a:extLst>
          </p:cNvPr>
          <p:cNvSpPr>
            <a:spLocks noGrp="1"/>
          </p:cNvSpPr>
          <p:nvPr>
            <p:ph idx="1"/>
          </p:nvPr>
        </p:nvSpPr>
        <p:spPr>
          <a:xfrm>
            <a:off x="1066800" y="2103120"/>
            <a:ext cx="10058400" cy="4260358"/>
          </a:xfrm>
        </p:spPr>
        <p:txBody>
          <a:bodyPr>
            <a:normAutofit fontScale="77500" lnSpcReduction="20000"/>
          </a:bodyPr>
          <a:lstStyle/>
          <a:p>
            <a:pPr marL="0" indent="0">
              <a:buNone/>
            </a:pPr>
            <a:r>
              <a:rPr lang="en-US" b="1" dirty="0"/>
              <a:t>Key Findings</a:t>
            </a:r>
          </a:p>
          <a:p>
            <a:r>
              <a:rPr lang="en-US" dirty="0"/>
              <a:t>Digital payment convenience influences impulsive spending behavior</a:t>
            </a:r>
          </a:p>
          <a:p>
            <a:r>
              <a:rPr lang="en-US" dirty="0"/>
              <a:t>Reduced “ pain of paying” lowers spending awareness among users.</a:t>
            </a:r>
          </a:p>
          <a:p>
            <a:r>
              <a:rPr lang="en-US" dirty="0"/>
              <a:t>Existing fintech platforms provide limited behavioral financial support</a:t>
            </a:r>
          </a:p>
          <a:p>
            <a:pPr marL="0" indent="0">
              <a:buNone/>
            </a:pPr>
            <a:r>
              <a:rPr lang="en-US" b="1" dirty="0"/>
              <a:t>Proposed Recommendation</a:t>
            </a:r>
          </a:p>
          <a:p>
            <a:r>
              <a:rPr lang="en-US" dirty="0"/>
              <a:t>Integrate the AspiraFi behavioral finance framework into digital payment platforms</a:t>
            </a:r>
          </a:p>
          <a:p>
            <a:r>
              <a:rPr lang="en-US" dirty="0"/>
              <a:t>Use awareness tools, spending nudges, and behavioral insights to encourage mindful spending</a:t>
            </a:r>
          </a:p>
          <a:p>
            <a:pPr marL="0" indent="0">
              <a:buNone/>
            </a:pPr>
            <a:r>
              <a:rPr lang="en-US" b="1" dirty="0"/>
              <a:t>Expected Outcomes</a:t>
            </a:r>
          </a:p>
          <a:p>
            <a:r>
              <a:rPr lang="en-US" dirty="0"/>
              <a:t>Improved financial awareness</a:t>
            </a:r>
          </a:p>
          <a:p>
            <a:r>
              <a:rPr lang="en-US" dirty="0"/>
              <a:t>Reduced impulsive spending behavior</a:t>
            </a:r>
          </a:p>
          <a:p>
            <a:r>
              <a:rPr lang="en-US" dirty="0"/>
              <a:t>Stronger customer engagement and trust</a:t>
            </a:r>
          </a:p>
          <a:p>
            <a:r>
              <a:rPr lang="en-US" dirty="0"/>
              <a:t>More responsible digital financial habits</a:t>
            </a:r>
          </a:p>
          <a:p>
            <a:pPr marL="0" indent="0">
              <a:buNone/>
            </a:pPr>
            <a:r>
              <a:rPr lang="en-US" b="1" dirty="0"/>
              <a:t>Final Conclusion</a:t>
            </a:r>
          </a:p>
          <a:p>
            <a:r>
              <a:rPr lang="en-US" dirty="0"/>
              <a:t>Digital convenience should be supported by financial awareness</a:t>
            </a:r>
          </a:p>
          <a:p>
            <a:r>
              <a:rPr lang="en-US" dirty="0"/>
              <a:t> Future fintech systems should focus not only on speed, but also on mindful financial behavior.</a:t>
            </a:r>
          </a:p>
          <a:p>
            <a:endParaRPr lang="en-US" dirty="0"/>
          </a:p>
        </p:txBody>
      </p:sp>
      <p:pic>
        <p:nvPicPr>
          <p:cNvPr id="5" name="Picture 4">
            <a:extLst>
              <a:ext uri="{FF2B5EF4-FFF2-40B4-BE49-F238E27FC236}">
                <a16:creationId xmlns:a16="http://schemas.microsoft.com/office/drawing/2014/main" id="{937E9039-B5F7-B967-5FB4-766EA5B81764}"/>
              </a:ext>
            </a:extLst>
          </p:cNvPr>
          <p:cNvPicPr>
            <a:picLocks noChangeAspect="1"/>
          </p:cNvPicPr>
          <p:nvPr/>
        </p:nvPicPr>
        <p:blipFill>
          <a:blip r:embed="rId3"/>
          <a:stretch>
            <a:fillRect/>
          </a:stretch>
        </p:blipFill>
        <p:spPr>
          <a:xfrm>
            <a:off x="8920065" y="979715"/>
            <a:ext cx="2416629" cy="2230016"/>
          </a:xfrm>
          <a:prstGeom prst="rect">
            <a:avLst/>
          </a:prstGeom>
        </p:spPr>
      </p:pic>
    </p:spTree>
    <p:extLst>
      <p:ext uri="{BB962C8B-B14F-4D97-AF65-F5344CB8AC3E}">
        <p14:creationId xmlns:p14="http://schemas.microsoft.com/office/powerpoint/2010/main" val="2979085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9199E4-7F1A-D366-898A-74342B425F7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809135" y="501444"/>
            <a:ext cx="8819536" cy="5978013"/>
          </a:xfrm>
          <a:prstGeom prst="rect">
            <a:avLst/>
          </a:prstGeom>
        </p:spPr>
      </p:pic>
    </p:spTree>
    <p:extLst>
      <p:ext uri="{BB962C8B-B14F-4D97-AF65-F5344CB8AC3E}">
        <p14:creationId xmlns:p14="http://schemas.microsoft.com/office/powerpoint/2010/main" val="22741691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467</TotalTime>
  <Words>2171</Words>
  <Application>Microsoft Office PowerPoint</Application>
  <PresentationFormat>Widescreen</PresentationFormat>
  <Paragraphs>234</Paragraphs>
  <Slides>17</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Century Gothic</vt:lpstr>
      <vt:lpstr>Garamond</vt:lpstr>
      <vt:lpstr>Savon</vt:lpstr>
      <vt:lpstr>A Behavioral Finance Framework for Mindful Digital Spending </vt:lpstr>
      <vt:lpstr>Business Background</vt:lpstr>
      <vt:lpstr>Problem Statement</vt:lpstr>
      <vt:lpstr>Current Digital Spending Framework</vt:lpstr>
      <vt:lpstr>Analytical Framework Used</vt:lpstr>
      <vt:lpstr>Data and Inputs</vt:lpstr>
      <vt:lpstr>Analysis output   </vt:lpstr>
      <vt:lpstr>PowerPoint Presentation</vt:lpstr>
      <vt:lpstr>Diagnosis &amp; Problem Identification </vt:lpstr>
      <vt:lpstr>AspiraFi: Proposed Behavioral Finance Framework </vt:lpstr>
      <vt:lpstr>Implementation plan</vt:lpstr>
      <vt:lpstr>Financial Impact</vt:lpstr>
      <vt:lpstr>Risk &amp; Governance Controls</vt:lpstr>
      <vt:lpstr>Performance KPIs</vt:lpstr>
      <vt:lpstr>Strategic Impact</vt:lpstr>
      <vt:lpstr>Executive Summary &amp; Recommendation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Behavioral Finance Framework for Mindful Digital Spending </dc:title>
  <dc:creator>kratagya Mishra</dc:creator>
  <cp:lastModifiedBy>kratagya Mishra</cp:lastModifiedBy>
  <cp:revision>1</cp:revision>
  <dcterms:created xsi:type="dcterms:W3CDTF">2026-05-22T04:18:34Z</dcterms:created>
  <dcterms:modified xsi:type="dcterms:W3CDTF">2026-07-17T13:54:04Z</dcterms:modified>
</cp:coreProperties>
</file>